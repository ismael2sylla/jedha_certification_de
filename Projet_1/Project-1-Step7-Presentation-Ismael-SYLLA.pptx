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8" r:id="rId3"/>
    <p:sldId id="264" r:id="rId4"/>
    <p:sldId id="270" r:id="rId5"/>
    <p:sldId id="269" r:id="rId6"/>
    <p:sldId id="284" r:id="rId7"/>
    <p:sldId id="283" r:id="rId8"/>
    <p:sldId id="288" r:id="rId9"/>
    <p:sldId id="272" r:id="rId10"/>
    <p:sldId id="282" r:id="rId11"/>
    <p:sldId id="286" r:id="rId12"/>
    <p:sldId id="287" r:id="rId13"/>
    <p:sldId id="281" r:id="rId14"/>
    <p:sldId id="273" r:id="rId15"/>
    <p:sldId id="274" r:id="rId16"/>
    <p:sldId id="277" r:id="rId17"/>
    <p:sldId id="290" r:id="rId18"/>
    <p:sldId id="289" r:id="rId19"/>
    <p:sldId id="275" r:id="rId20"/>
    <p:sldId id="291" r:id="rId21"/>
    <p:sldId id="276" r:id="rId22"/>
    <p:sldId id="279" r:id="rId23"/>
    <p:sldId id="262" r:id="rId24"/>
  </p:sldIdLst>
  <p:sldSz cx="9144000" cy="5143500" type="screen16x9"/>
  <p:notesSz cx="6858000" cy="9144000"/>
  <p:embeddedFontLst>
    <p:embeddedFont>
      <p:font typeface="Inter" panose="020B0604020202020204" charset="0"/>
      <p:regular r:id="rId26"/>
      <p:bold r:id="rId27"/>
    </p:embeddedFont>
    <p:embeddedFont>
      <p:font typeface="Inter Medium" panose="020B0604020202020204" charset="0"/>
      <p:regular r:id="rId28"/>
      <p:bold r:id="rId29"/>
    </p:embeddedFont>
    <p:embeddedFont>
      <p:font typeface="Inter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0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C34A2CE-2497-F3ED-3404-D5C2933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6BFA3EA-EBF6-0118-F30E-DE06C256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2C745CE-3663-A8B6-DCA0-1BD7ABDAE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87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30EC97B-E4C8-6EEC-54A7-4E7F624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8289B2D-4B36-8610-71AF-9782C1F65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F457678-E85C-3743-3656-B0C11CCAD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SWOT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486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4E7ACE8-7EF0-3D49-F2DE-2F55EEA7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84DF97BE-BC2C-5391-0C43-C69F868B0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0858D6A-705A-BE4C-81DE-07BDE410F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975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D0D633-66D8-CB87-FA86-097AC54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DBC0D69-F17D-B095-2CF4-C4F27A0BD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F6464F7-08BB-4ABD-264F-1B5499DF9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20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B3541E8-B6D4-FE22-99EB-8D744A65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7E474FD-4157-25FC-093D-FD9516C47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FD8339D-DBA8-D5A3-DCF1-8B3AEFB27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4232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0E029E3-6B3D-68EC-FD1F-5D3CD040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68D9E32-C22E-7C5D-6F67-82D5BC90F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EE95672-A4E9-0E41-A4C5-151BF0CF9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r>
              <a:rPr lang="fr-FR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622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D92E67D-74EE-16DB-11C3-83A9EE0C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DC65A041-927B-0E57-0974-C3E964DA3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3C7159C-3E9B-C061-E5CD-828C15467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65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EA0C030-6D5C-9BA1-0C37-16D2D0AE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3B20AA7-88FF-38B2-07D1-36E595E96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5C8275E9-3324-370F-BCB6-DA06FE46D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4055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C9AE76-8137-AC38-D15B-E439E9B9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364E78B-018A-81DD-D46A-A06FBD310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78D982C-289D-EADF-C8C8-1DF30305E0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866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FFBBAE8-4F9C-11EA-A944-E912542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B196AD3-C2A3-8A3A-CC9E-20194DB2C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207853D-85F4-EDAF-68FE-0EAF7EDEC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Personas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468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1858CE9-B0C2-558F-73E2-F682DB2A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FAF203E-5A6C-A1B5-3BED-91EB32233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A17A612-5CFE-1028-A8DF-BB7B51198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070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1A68D15-4755-E0B4-D7A5-6448C4F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0133618-2F1C-EE09-9AB2-93C864EED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C744834-CD86-D300-02F4-9D2B25AE8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50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3AD1A29-B926-FE9B-9006-BD20050A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246B76A8-5AD0-9236-8CF0-CB44F0538E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1622D1F-923B-0456-5859-6B21C58D0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920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B3E2EEC-153F-8219-5DDA-A61D65F5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84C479B-D89E-89BE-3CCA-8A8D8F187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813A0F9-7A99-D6F5-9A7F-0DADA02A7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973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EFF863A-1313-40DE-D5E8-C05A4E601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0035C43-3A3C-4182-CAD8-95DCA55F1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3F1B99D-201F-6AA3-130F-B5727E82C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920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370BA2F-4297-64F5-14D1-C210CD2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F468930-25C8-56AF-C7C4-4DEFA6A93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97D443E-0358-A25C-7EA3-73BB99DAF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5527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DA86059-49A8-683D-AA8C-BD5D6FD2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E569F650-9397-00F6-CCE2-DAFE8A675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739AC939-F55A-0095-B946-A86E0A9D3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55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52D32A3-8150-55FF-EA62-A4BB81FA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A95E041-1555-A548-82A4-AA7B5F134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778A2E8-67A7-866B-40DE-A3D38F817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3596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8461B9B-63A8-424E-2607-346598F4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000516A-F476-70BE-5AA6-64117F509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A70E6C2D-F23F-8AB3-9EE0-679DE68A2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977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4A3DEA2-B394-0C40-49AD-1915891F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9E17FED-7449-0E63-99A3-1BA965A1C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0A98F42-E879-F331-ED75-442E064D1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1120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494B73D-D23B-9D61-DB75-98B600FBAC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52087" y="4927600"/>
            <a:ext cx="665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A8A8A8">
                    <a:alpha val="50000"/>
                  </a:srgbClr>
                </a:solidFill>
                <a:latin typeface="Aptos" panose="020B0004020202020204" pitchFamily="34" charset="0"/>
              </a:rPr>
              <a:t>C2 - Interne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6.sv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1492489"/>
            <a:ext cx="9144000" cy="1190038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</a:t>
            </a:r>
            <a:r>
              <a:rPr lang="fr-F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4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451" y="2760392"/>
            <a:ext cx="3405549" cy="238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0" y="1537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0" y="4305600"/>
            <a:ext cx="2548800" cy="5779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Ismaël SYLLA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D7A73CF2-6999-621A-BC04-F15157F7B146}"/>
              </a:ext>
            </a:extLst>
          </p:cNvPr>
          <p:cNvSpPr txBox="1">
            <a:spLocks/>
          </p:cNvSpPr>
          <p:nvPr/>
        </p:nvSpPr>
        <p:spPr>
          <a:xfrm>
            <a:off x="0" y="4816800"/>
            <a:ext cx="2361600" cy="32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1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17 décembre 2025</a:t>
            </a:r>
            <a:endParaRPr lang="fr-FR" sz="11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pic>
        <p:nvPicPr>
          <p:cNvPr id="4" name="Image 3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DFFCABE3-530E-7BAC-2ECD-78E65B8D1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181" y="-12837"/>
            <a:ext cx="618532" cy="618532"/>
          </a:xfrm>
          <a:prstGeom prst="rect">
            <a:avLst/>
          </a:prstGeom>
        </p:spPr>
      </p:pic>
      <p:pic>
        <p:nvPicPr>
          <p:cNvPr id="6" name="Image 5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E33807E-2F76-0FD4-AC8E-32558EAB2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019" y="549220"/>
            <a:ext cx="618531" cy="222043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CBADACA1-7A57-6DAC-C6D9-7615452FEE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09270" y="549220"/>
            <a:ext cx="2500040" cy="754573"/>
          </a:xfrm>
          <a:prstGeom prst="rect">
            <a:avLst/>
          </a:prstGeom>
        </p:spPr>
      </p:pic>
      <p:pic>
        <p:nvPicPr>
          <p:cNvPr id="5" name="Image 4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83782C4E-A086-8C3B-4521-B9A5CC447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2051" y="121087"/>
            <a:ext cx="528999" cy="316508"/>
          </a:xfrm>
          <a:prstGeom prst="rect">
            <a:avLst/>
          </a:prstGeom>
        </p:spPr>
      </p:pic>
      <p:sp>
        <p:nvSpPr>
          <p:cNvPr id="3" name="Google Shape;57;p13">
            <a:extLst>
              <a:ext uri="{FF2B5EF4-FFF2-40B4-BE49-F238E27FC236}">
                <a16:creationId xmlns:a16="http://schemas.microsoft.com/office/drawing/2014/main" id="{3A213131-3632-ACB0-BB0B-53755F1B0106}"/>
              </a:ext>
            </a:extLst>
          </p:cNvPr>
          <p:cNvSpPr txBox="1">
            <a:spLocks/>
          </p:cNvSpPr>
          <p:nvPr/>
        </p:nvSpPr>
        <p:spPr>
          <a:xfrm>
            <a:off x="4131286" y="2547850"/>
            <a:ext cx="1007326" cy="41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4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Phase 1</a:t>
            </a:r>
            <a:endParaRPr lang="fr-FR" sz="14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6394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Introduction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0" name="Google Shape;70;p15"/>
          <p:cNvSpPr/>
          <p:nvPr/>
        </p:nvSpPr>
        <p:spPr>
          <a:xfrm rot="-355994">
            <a:off x="989418" y="23653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265528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Prototype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2" name="Google Shape;72;p15"/>
          <p:cNvSpPr/>
          <p:nvPr/>
        </p:nvSpPr>
        <p:spPr>
          <a:xfrm rot="-355994">
            <a:off x="989418" y="28984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ctrTitle" idx="4294967295"/>
          </p:nvPr>
        </p:nvSpPr>
        <p:spPr>
          <a:xfrm>
            <a:off x="1326930" y="318838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La solution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" name="Google Shape;74;p15"/>
          <p:cNvSpPr/>
          <p:nvPr/>
        </p:nvSpPr>
        <p:spPr>
          <a:xfrm rot="-355994">
            <a:off x="989418" y="34315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15">
            <a:extLst>
              <a:ext uri="{FF2B5EF4-FFF2-40B4-BE49-F238E27FC236}">
                <a16:creationId xmlns:a16="http://schemas.microsoft.com/office/drawing/2014/main" id="{B337A37D-EB88-9CFF-4A9D-88DED995229B}"/>
              </a:ext>
            </a:extLst>
          </p:cNvPr>
          <p:cNvSpPr/>
          <p:nvPr/>
        </p:nvSpPr>
        <p:spPr>
          <a:xfrm rot="-355994">
            <a:off x="989417" y="88258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90462975-A40B-4D59-119D-DEEF2BA24BAA}"/>
              </a:ext>
            </a:extLst>
          </p:cNvPr>
          <p:cNvSpPr/>
          <p:nvPr/>
        </p:nvSpPr>
        <p:spPr>
          <a:xfrm rot="-355994">
            <a:off x="989417" y="137851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4;p15">
            <a:extLst>
              <a:ext uri="{FF2B5EF4-FFF2-40B4-BE49-F238E27FC236}">
                <a16:creationId xmlns:a16="http://schemas.microsoft.com/office/drawing/2014/main" id="{A0DFFD73-535B-23DC-1DA1-5EE90DE8E2D2}"/>
              </a:ext>
            </a:extLst>
          </p:cNvPr>
          <p:cNvSpPr/>
          <p:nvPr/>
        </p:nvSpPr>
        <p:spPr>
          <a:xfrm rot="-355994">
            <a:off x="989419" y="39646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9;p15">
            <a:extLst>
              <a:ext uri="{FF2B5EF4-FFF2-40B4-BE49-F238E27FC236}">
                <a16:creationId xmlns:a16="http://schemas.microsoft.com/office/drawing/2014/main" id="{2A635064-37F8-412D-9D79-B4CBA291B731}"/>
              </a:ext>
            </a:extLst>
          </p:cNvPr>
          <p:cNvSpPr txBox="1">
            <a:spLocks/>
          </p:cNvSpPr>
          <p:nvPr/>
        </p:nvSpPr>
        <p:spPr>
          <a:xfrm>
            <a:off x="1326930" y="1135335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Identification du besoin</a:t>
            </a:r>
          </a:p>
        </p:txBody>
      </p:sp>
      <p:sp>
        <p:nvSpPr>
          <p:cNvPr id="6" name="Google Shape;69;p15">
            <a:extLst>
              <a:ext uri="{FF2B5EF4-FFF2-40B4-BE49-F238E27FC236}">
                <a16:creationId xmlns:a16="http://schemas.microsoft.com/office/drawing/2014/main" id="{A631BA53-0717-3D98-FCBC-4980A1C8985E}"/>
              </a:ext>
            </a:extLst>
          </p:cNvPr>
          <p:cNvSpPr txBox="1">
            <a:spLocks/>
          </p:cNvSpPr>
          <p:nvPr/>
        </p:nvSpPr>
        <p:spPr>
          <a:xfrm>
            <a:off x="1326930" y="2122207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Sélection des données</a:t>
            </a:r>
          </a:p>
        </p:txBody>
      </p:sp>
      <p:sp>
        <p:nvSpPr>
          <p:cNvPr id="7" name="Google Shape;73;p15">
            <a:extLst>
              <a:ext uri="{FF2B5EF4-FFF2-40B4-BE49-F238E27FC236}">
                <a16:creationId xmlns:a16="http://schemas.microsoft.com/office/drawing/2014/main" id="{B33B36B4-3FEF-C050-3A24-8AD4ED568CB6}"/>
              </a:ext>
            </a:extLst>
          </p:cNvPr>
          <p:cNvSpPr txBox="1">
            <a:spLocks/>
          </p:cNvSpPr>
          <p:nvPr/>
        </p:nvSpPr>
        <p:spPr>
          <a:xfrm>
            <a:off x="1326930" y="3721461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</a:t>
            </a:r>
          </a:p>
        </p:txBody>
      </p:sp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1141846A-FB1B-34E8-F60D-E6F0C13475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5C5996A2-7B03-00FB-8158-30D3B101A6E9}"/>
              </a:ext>
            </a:extLst>
          </p:cNvPr>
          <p:cNvSpPr/>
          <p:nvPr/>
        </p:nvSpPr>
        <p:spPr>
          <a:xfrm rot="-355994">
            <a:off x="989416" y="189053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69;p15">
            <a:extLst>
              <a:ext uri="{FF2B5EF4-FFF2-40B4-BE49-F238E27FC236}">
                <a16:creationId xmlns:a16="http://schemas.microsoft.com/office/drawing/2014/main" id="{91C59234-5752-E05F-3399-5B7011CABA93}"/>
              </a:ext>
            </a:extLst>
          </p:cNvPr>
          <p:cNvSpPr txBox="1">
            <a:spLocks/>
          </p:cNvSpPr>
          <p:nvPr/>
        </p:nvSpPr>
        <p:spPr>
          <a:xfrm>
            <a:off x="1326929" y="16473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Veille technologique et réglementaire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9650325-D0F1-DAE6-D75F-EE8F6F7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5332E44-E88D-8B52-1CDF-8923630613C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A221F4FC-0735-A085-E35E-8F8283A0EA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85B00054-1755-8345-C73C-314D154E9703}"/>
              </a:ext>
            </a:extLst>
          </p:cNvPr>
          <p:cNvSpPr/>
          <p:nvPr/>
        </p:nvSpPr>
        <p:spPr>
          <a:xfrm>
            <a:off x="1040272" y="2402050"/>
            <a:ext cx="3649980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89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BD0DDF8-3FF6-BC7F-ECE2-FE9969FF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33FFFE1-6EF2-EE31-553D-B6998730BA3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41CD1705-32AA-4100-0BE2-2180CAA3498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204776" y="1162860"/>
            <a:ext cx="7581308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fr-FR" sz="18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Acteur influent dans le e-commerce et le cloud </a:t>
            </a:r>
            <a:r>
              <a:rPr lang="fr-FR" sz="1800" dirty="0" err="1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computing</a:t>
            </a:r>
            <a:r>
              <a:rPr lang="fr-FR" sz="18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br>
              <a:rPr lang="fr-FR" sz="18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1800" dirty="0">
              <a:solidFill>
                <a:srgbClr val="00206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F3895AE-DC28-A69F-23F1-1C1EB7C676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1AF255E8-4240-B09D-8295-FD440CC28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6773" y="630128"/>
            <a:ext cx="1498223" cy="452200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59C20EF-67A8-460B-BCA8-DDA97AE403CD}"/>
              </a:ext>
            </a:extLst>
          </p:cNvPr>
          <p:cNvCxnSpPr>
            <a:cxnSpLocks/>
          </p:cNvCxnSpPr>
          <p:nvPr/>
        </p:nvCxnSpPr>
        <p:spPr>
          <a:xfrm>
            <a:off x="4478516" y="1787564"/>
            <a:ext cx="0" cy="2891883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6DE414B1-3CAD-E1B3-E21E-79184836CBD8}"/>
              </a:ext>
            </a:extLst>
          </p:cNvPr>
          <p:cNvCxnSpPr>
            <a:cxnSpLocks/>
          </p:cNvCxnSpPr>
          <p:nvPr/>
        </p:nvCxnSpPr>
        <p:spPr>
          <a:xfrm>
            <a:off x="513575" y="3187452"/>
            <a:ext cx="8272509" cy="43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que 15" descr="Culturiste avec un remplissage uni">
            <a:extLst>
              <a:ext uri="{FF2B5EF4-FFF2-40B4-BE49-F238E27FC236}">
                <a16:creationId xmlns:a16="http://schemas.microsoft.com/office/drawing/2014/main" id="{F9BA50A2-6150-0A39-4275-F1F18D6EF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2057" y="1631997"/>
            <a:ext cx="385904" cy="385904"/>
          </a:xfrm>
          <a:prstGeom prst="rect">
            <a:avLst/>
          </a:prstGeom>
        </p:spPr>
      </p:pic>
      <p:pic>
        <p:nvPicPr>
          <p:cNvPr id="20" name="Graphique 19" descr="Avertissement avec un remplissage uni">
            <a:extLst>
              <a:ext uri="{FF2B5EF4-FFF2-40B4-BE49-F238E27FC236}">
                <a16:creationId xmlns:a16="http://schemas.microsoft.com/office/drawing/2014/main" id="{00F9F397-5B15-D6B9-45BE-3D8D9B8E25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8680" y="3265730"/>
            <a:ext cx="306520" cy="306520"/>
          </a:xfrm>
          <a:prstGeom prst="rect">
            <a:avLst/>
          </a:prstGeom>
        </p:spPr>
      </p:pic>
      <p:pic>
        <p:nvPicPr>
          <p:cNvPr id="22" name="Graphique 21" descr="Graphique à barres avec tendance à la baisse contour">
            <a:extLst>
              <a:ext uri="{FF2B5EF4-FFF2-40B4-BE49-F238E27FC236}">
                <a16:creationId xmlns:a16="http://schemas.microsoft.com/office/drawing/2014/main" id="{A07459F8-27F4-F7CE-81CF-5D30631C7E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39705" y="1628041"/>
            <a:ext cx="413926" cy="413926"/>
          </a:xfrm>
          <a:prstGeom prst="rect">
            <a:avLst/>
          </a:prstGeom>
        </p:spPr>
      </p:pic>
      <p:pic>
        <p:nvPicPr>
          <p:cNvPr id="24" name="Graphique 23" descr="Croissance de l'activité contour">
            <a:extLst>
              <a:ext uri="{FF2B5EF4-FFF2-40B4-BE49-F238E27FC236}">
                <a16:creationId xmlns:a16="http://schemas.microsoft.com/office/drawing/2014/main" id="{B47B0B37-6D46-AB6D-8B3F-FECC93F94B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72057" y="3250332"/>
            <a:ext cx="350832" cy="350832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079AA3C-3EA5-9355-4F22-0890C91A12B4}"/>
              </a:ext>
            </a:extLst>
          </p:cNvPr>
          <p:cNvSpPr txBox="1"/>
          <p:nvPr/>
        </p:nvSpPr>
        <p:spPr>
          <a:xfrm>
            <a:off x="583024" y="1969547"/>
            <a:ext cx="38954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3</a:t>
            </a:r>
            <a:r>
              <a:rPr lang="fr-FR" baseline="30000" dirty="0">
                <a:solidFill>
                  <a:srgbClr val="002060"/>
                </a:solidFill>
              </a:rPr>
              <a:t>ème</a:t>
            </a:r>
            <a:r>
              <a:rPr lang="fr-FR" dirty="0">
                <a:solidFill>
                  <a:srgbClr val="002060"/>
                </a:solidFill>
              </a:rPr>
              <a:t> mondiale (</a:t>
            </a:r>
            <a:r>
              <a:rPr lang="fr-FR" dirty="0" err="1">
                <a:solidFill>
                  <a:srgbClr val="002060"/>
                </a:solidFill>
              </a:rPr>
              <a:t>Interband</a:t>
            </a:r>
            <a:r>
              <a:rPr lang="fr-FR" dirty="0">
                <a:solidFill>
                  <a:srgbClr val="002060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Réseau </a:t>
            </a:r>
            <a:r>
              <a:rPr lang="fr-FR" dirty="0" err="1">
                <a:solidFill>
                  <a:srgbClr val="002060"/>
                </a:solidFill>
              </a:rPr>
              <a:t>logisitique</a:t>
            </a:r>
            <a:r>
              <a:rPr lang="fr-FR" dirty="0">
                <a:solidFill>
                  <a:srgbClr val="002060"/>
                </a:solidFill>
              </a:rPr>
              <a:t> performant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Présence dominante dans le e-commerce et cloud </a:t>
            </a:r>
            <a:r>
              <a:rPr lang="fr-FR" dirty="0" err="1">
                <a:solidFill>
                  <a:srgbClr val="002060"/>
                </a:solidFill>
              </a:rPr>
              <a:t>computing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Large base de clientèle fidèle.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8364401-A76C-A764-1AFF-F49553F4C7EE}"/>
              </a:ext>
            </a:extLst>
          </p:cNvPr>
          <p:cNvSpPr txBox="1"/>
          <p:nvPr/>
        </p:nvSpPr>
        <p:spPr>
          <a:xfrm>
            <a:off x="583024" y="3552765"/>
            <a:ext cx="38954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Croissance continue dans les marchés émergeants.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002060"/>
                </a:solidFill>
              </a:rPr>
              <a:t>Valorisation des retours clients.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Développement durable et innovation logistique.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E345D73-C07E-73A5-FA03-E19243175A10}"/>
              </a:ext>
            </a:extLst>
          </p:cNvPr>
          <p:cNvSpPr txBox="1"/>
          <p:nvPr/>
        </p:nvSpPr>
        <p:spPr>
          <a:xfrm>
            <a:off x="4493385" y="2017901"/>
            <a:ext cx="38954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Dépendance aux vendeurs tiers.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Problèmes juridiques.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Délai de livraison important dans certaines zones rurales.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Vulnérabilité aux cyberattaques.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2284640-D479-1EFF-46B4-C3E458766C89}"/>
              </a:ext>
            </a:extLst>
          </p:cNvPr>
          <p:cNvSpPr txBox="1"/>
          <p:nvPr/>
        </p:nvSpPr>
        <p:spPr>
          <a:xfrm>
            <a:off x="4505885" y="3660702"/>
            <a:ext cx="38954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Marché très concurrentiel.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Pression réglementaire.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Multiplication des cyberattaques.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35" name="Google Shape;76;p15">
            <a:extLst>
              <a:ext uri="{FF2B5EF4-FFF2-40B4-BE49-F238E27FC236}">
                <a16:creationId xmlns:a16="http://schemas.microsoft.com/office/drawing/2014/main" id="{50449A64-0D8E-841E-6A98-B6073BFAE239}"/>
              </a:ext>
            </a:extLst>
          </p:cNvPr>
          <p:cNvSpPr/>
          <p:nvPr/>
        </p:nvSpPr>
        <p:spPr>
          <a:xfrm>
            <a:off x="870309" y="438274"/>
            <a:ext cx="1842411" cy="4954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76;p15">
            <a:extLst>
              <a:ext uri="{FF2B5EF4-FFF2-40B4-BE49-F238E27FC236}">
                <a16:creationId xmlns:a16="http://schemas.microsoft.com/office/drawing/2014/main" id="{5907DFD9-CEE2-ABBB-EC31-94638272F36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01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74B9C5F7-DE9C-A314-4F94-2DF56087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95A891C-B11B-0BE7-BDC7-93EAF232464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Identification du besoin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71C210E3-BB92-B68A-42EF-1BDE04DF17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1FB858E7-EDC4-58C8-9625-F47376D5C0A5}"/>
              </a:ext>
            </a:extLst>
          </p:cNvPr>
          <p:cNvSpPr/>
          <p:nvPr/>
        </p:nvSpPr>
        <p:spPr>
          <a:xfrm flipV="1">
            <a:off x="1131712" y="2461259"/>
            <a:ext cx="6800522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62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B1B7CF1-2FAC-EEB8-5D45-A3B04FCD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F88A28A-A483-E9B2-2126-DE115A729C7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identifié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ED64B762-FF8D-FB2D-97F6-180A61E72F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2433CFD-D0A3-5D94-691F-B66E5B7E13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320CA5FA-4F77-5A2F-8F0F-D3695DDA9D0A}"/>
              </a:ext>
            </a:extLst>
          </p:cNvPr>
          <p:cNvSpPr/>
          <p:nvPr/>
        </p:nvSpPr>
        <p:spPr>
          <a:xfrm>
            <a:off x="870309" y="438274"/>
            <a:ext cx="236354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raphique 3" descr="Profil femelle contour">
            <a:extLst>
              <a:ext uri="{FF2B5EF4-FFF2-40B4-BE49-F238E27FC236}">
                <a16:creationId xmlns:a16="http://schemas.microsoft.com/office/drawing/2014/main" id="{6907B290-B6EB-F89A-1687-0B1077A83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677" y="875982"/>
            <a:ext cx="966740" cy="9667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E306DBC-35F5-CB75-3BAA-5208FC5DB971}"/>
              </a:ext>
            </a:extLst>
          </p:cNvPr>
          <p:cNvSpPr txBox="1"/>
          <p:nvPr/>
        </p:nvSpPr>
        <p:spPr>
          <a:xfrm>
            <a:off x="145357" y="2333543"/>
            <a:ext cx="38467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 Avoir les avis les pertinents dans la file des avis pour chaque produit.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Mettre en avant les avis produits les plus pertinents.  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10791AF-C0ED-C600-D799-6BDDCEE34942}"/>
              </a:ext>
            </a:extLst>
          </p:cNvPr>
          <p:cNvCxnSpPr/>
          <p:nvPr/>
        </p:nvCxnSpPr>
        <p:spPr>
          <a:xfrm>
            <a:off x="4282068" y="802888"/>
            <a:ext cx="0" cy="367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81F7C837-B436-5763-AF68-2A98A273840D}"/>
              </a:ext>
            </a:extLst>
          </p:cNvPr>
          <p:cNvSpPr txBox="1"/>
          <p:nvPr/>
        </p:nvSpPr>
        <p:spPr>
          <a:xfrm>
            <a:off x="1702417" y="1018969"/>
            <a:ext cx="16289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Léa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31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CDI et maman</a:t>
            </a:r>
            <a:endParaRPr lang="fr-FR" sz="1100" dirty="0">
              <a:solidFill>
                <a:srgbClr val="00206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2843C4F-50A3-42DA-8A01-21B4F606D56C}"/>
              </a:ext>
            </a:extLst>
          </p:cNvPr>
          <p:cNvSpPr txBox="1"/>
          <p:nvPr/>
        </p:nvSpPr>
        <p:spPr>
          <a:xfrm>
            <a:off x="6247886" y="990020"/>
            <a:ext cx="16289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Mathis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42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entrepreneur</a:t>
            </a:r>
            <a:endParaRPr lang="fr-FR" sz="1100" dirty="0">
              <a:solidFill>
                <a:srgbClr val="00206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88A1A8-90D8-1080-C8F6-D185C74646A2}"/>
              </a:ext>
            </a:extLst>
          </p:cNvPr>
          <p:cNvSpPr txBox="1"/>
          <p:nvPr/>
        </p:nvSpPr>
        <p:spPr>
          <a:xfrm>
            <a:off x="4572000" y="2115081"/>
            <a:ext cx="39995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Améliorer la visibilité et la performance de ses produits.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Comprendre les critères influençant le classement des produits.</a:t>
            </a: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Analyse des avis clients et tendances de satisfaction.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Transparence sur les algorithmes de classement produits.</a:t>
            </a:r>
          </a:p>
        </p:txBody>
      </p:sp>
      <p:pic>
        <p:nvPicPr>
          <p:cNvPr id="8" name="Graphique 7" descr="Profil mâle contour">
            <a:extLst>
              <a:ext uri="{FF2B5EF4-FFF2-40B4-BE49-F238E27FC236}">
                <a16:creationId xmlns:a16="http://schemas.microsoft.com/office/drawing/2014/main" id="{9495ADD9-F184-28FA-CC65-BC75F950CB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2736" y="781650"/>
            <a:ext cx="1015150" cy="10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9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DE110AA-6103-6A09-A141-44B50923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B09B606-D340-C9FC-748B-EDC4E2E16CD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identifié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CFA94C8-D836-B165-6460-0A62ED62C3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60B05E6-042B-8E12-C0E1-7BF7FD2BE0B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25434435-F159-1F64-13A4-3B881D2DA95B}"/>
              </a:ext>
            </a:extLst>
          </p:cNvPr>
          <p:cNvSpPr/>
          <p:nvPr/>
        </p:nvSpPr>
        <p:spPr>
          <a:xfrm>
            <a:off x="870309" y="438274"/>
            <a:ext cx="236354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F5E860F-4F67-9016-3996-4183BC7787EF}"/>
              </a:ext>
            </a:extLst>
          </p:cNvPr>
          <p:cNvCxnSpPr/>
          <p:nvPr/>
        </p:nvCxnSpPr>
        <p:spPr>
          <a:xfrm>
            <a:off x="4282068" y="802888"/>
            <a:ext cx="0" cy="367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que 11" descr="Profil mâle contour">
            <a:extLst>
              <a:ext uri="{FF2B5EF4-FFF2-40B4-BE49-F238E27FC236}">
                <a16:creationId xmlns:a16="http://schemas.microsoft.com/office/drawing/2014/main" id="{50E9D613-15CF-A267-E551-E01191D81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8581" y="861083"/>
            <a:ext cx="943602" cy="94360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76F86B7E-98BE-38DB-CB70-109A78461113}"/>
              </a:ext>
            </a:extLst>
          </p:cNvPr>
          <p:cNvSpPr txBox="1"/>
          <p:nvPr/>
        </p:nvSpPr>
        <p:spPr>
          <a:xfrm>
            <a:off x="5869086" y="1021478"/>
            <a:ext cx="3205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Rayan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25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Business </a:t>
            </a:r>
            <a:r>
              <a:rPr lang="fr-FR" dirty="0" err="1">
                <a:solidFill>
                  <a:srgbClr val="002060"/>
                </a:solidFill>
              </a:rPr>
              <a:t>Analyst</a:t>
            </a:r>
            <a:r>
              <a:rPr lang="fr-FR" dirty="0">
                <a:solidFill>
                  <a:srgbClr val="002060"/>
                </a:solidFill>
              </a:rPr>
              <a:t> chez Amazon</a:t>
            </a:r>
            <a:endParaRPr lang="fr-FR" sz="1100" dirty="0">
              <a:solidFill>
                <a:srgbClr val="00206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347C19F-C66C-162C-91A7-A67499405705}"/>
              </a:ext>
            </a:extLst>
          </p:cNvPr>
          <p:cNvSpPr txBox="1"/>
          <p:nvPr/>
        </p:nvSpPr>
        <p:spPr>
          <a:xfrm>
            <a:off x="4832477" y="2106694"/>
            <a:ext cx="39995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Pouvoir automatiser l’analyse et la classification des avis clients sur les produits.</a:t>
            </a:r>
          </a:p>
          <a:p>
            <a:endParaRPr lang="fr-FR" b="1" dirty="0">
              <a:solidFill>
                <a:srgbClr val="002060"/>
              </a:solidFill>
            </a:endParaRP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Classer les avis et identifier leur pertinence.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95BCA08-3670-39E1-0848-64E95B2533E8}"/>
              </a:ext>
            </a:extLst>
          </p:cNvPr>
          <p:cNvSpPr txBox="1"/>
          <p:nvPr/>
        </p:nvSpPr>
        <p:spPr>
          <a:xfrm>
            <a:off x="136168" y="2283066"/>
            <a:ext cx="40864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</a:rPr>
              <a:t>Besoin identifié </a:t>
            </a:r>
            <a:r>
              <a:rPr lang="fr-FR" dirty="0">
                <a:solidFill>
                  <a:srgbClr val="002060"/>
                </a:solidFill>
              </a:rPr>
              <a:t>: Bénéficier d’un service de livraison rapide.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b="1" dirty="0">
                <a:solidFill>
                  <a:srgbClr val="002060"/>
                </a:solidFill>
              </a:rPr>
              <a:t>Cas d’utilisation </a:t>
            </a:r>
            <a:r>
              <a:rPr lang="fr-FR" dirty="0">
                <a:solidFill>
                  <a:srgbClr val="002060"/>
                </a:solidFill>
              </a:rPr>
              <a:t>: Optimisation logistique et amélioration de la livraison dans les zones rurales.</a:t>
            </a:r>
          </a:p>
          <a:p>
            <a:r>
              <a:rPr lang="fr-FR" dirty="0">
                <a:solidFill>
                  <a:srgbClr val="002060"/>
                </a:solidFill>
              </a:rPr>
              <a:t>.  </a:t>
            </a:r>
          </a:p>
        </p:txBody>
      </p:sp>
      <p:pic>
        <p:nvPicPr>
          <p:cNvPr id="16" name="Graphique 15" descr="Profil femelle contour">
            <a:extLst>
              <a:ext uri="{FF2B5EF4-FFF2-40B4-BE49-F238E27FC236}">
                <a16:creationId xmlns:a16="http://schemas.microsoft.com/office/drawing/2014/main" id="{E8A58908-DEEA-BEFC-1164-810E9D7DC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964" y="922964"/>
            <a:ext cx="954440" cy="95444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98F5FC01-A515-5E74-8DF1-9BC92B12162B}"/>
              </a:ext>
            </a:extLst>
          </p:cNvPr>
          <p:cNvSpPr txBox="1"/>
          <p:nvPr/>
        </p:nvSpPr>
        <p:spPr>
          <a:xfrm>
            <a:off x="1672404" y="1051738"/>
            <a:ext cx="27743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Emma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21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Etudiante en psychologie</a:t>
            </a:r>
          </a:p>
        </p:txBody>
      </p:sp>
    </p:spTree>
    <p:extLst>
      <p:ext uri="{BB962C8B-B14F-4D97-AF65-F5344CB8AC3E}">
        <p14:creationId xmlns:p14="http://schemas.microsoft.com/office/powerpoint/2010/main" val="47136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95FE2B8-A12A-0189-346E-A22663E4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A96198-D7C5-42E7-E83D-D2A03063ADA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identifié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F3FAA9C-DAAD-CBFD-3511-11B540A4A6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2845E6D-59DD-AF6F-AD65-092785298C5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CE535C44-40A4-7206-A53E-38D8F81B3544}"/>
              </a:ext>
            </a:extLst>
          </p:cNvPr>
          <p:cNvSpPr/>
          <p:nvPr/>
        </p:nvSpPr>
        <p:spPr>
          <a:xfrm>
            <a:off x="870309" y="438274"/>
            <a:ext cx="236354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C7FCE8C-9E45-3372-B060-54748E9B2AC1}"/>
              </a:ext>
            </a:extLst>
          </p:cNvPr>
          <p:cNvSpPr txBox="1"/>
          <p:nvPr/>
        </p:nvSpPr>
        <p:spPr>
          <a:xfrm>
            <a:off x="870309" y="1559013"/>
            <a:ext cx="7302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Besoin retenu : </a:t>
            </a:r>
          </a:p>
          <a:p>
            <a:r>
              <a:rPr lang="fr-FR" dirty="0">
                <a:solidFill>
                  <a:srgbClr val="002060"/>
                </a:solidFill>
              </a:rPr>
              <a:t>Classer les avis et identifier leur pertinence.</a:t>
            </a:r>
          </a:p>
          <a:p>
            <a:endParaRPr lang="fr-FR" dirty="0">
              <a:solidFill>
                <a:srgbClr val="002060"/>
              </a:solidFill>
            </a:endParaRPr>
          </a:p>
          <a:p>
            <a:r>
              <a:rPr lang="fr-FR" b="1" u="sng" dirty="0">
                <a:solidFill>
                  <a:srgbClr val="002060"/>
                </a:solidFill>
              </a:rPr>
              <a:t>Valeurs ajoutées : 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Eliminer un travail manuel et gagner du temps.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Avoir une analyse plus rapide et plus fiable.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Ce cas d’usage peut être considéré comme un levier et une première brique pour d’autres besoins.</a:t>
            </a:r>
          </a:p>
        </p:txBody>
      </p:sp>
    </p:spTree>
    <p:extLst>
      <p:ext uri="{BB962C8B-B14F-4D97-AF65-F5344CB8AC3E}">
        <p14:creationId xmlns:p14="http://schemas.microsoft.com/office/powerpoint/2010/main" val="373643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543DF87-FD0E-2544-E53D-441F7951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95F103A1-A56B-659A-E955-F649457DD65F}"/>
              </a:ext>
            </a:extLst>
          </p:cNvPr>
          <p:cNvSpPr/>
          <p:nvPr/>
        </p:nvSpPr>
        <p:spPr>
          <a:xfrm flipV="1">
            <a:off x="384035" y="2312575"/>
            <a:ext cx="8276745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4BAE00C-0122-3E2C-EE1B-3F554198EAE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00722" y="1702750"/>
            <a:ext cx="8943277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Veille technologique et réglementaire</a:t>
            </a:r>
            <a:endParaRPr sz="3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FD0C5D4C-B3DD-41E6-31E4-E41D56B91A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0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753A0AF-976F-A83F-C097-55909F4B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8906DE8A-0DD1-C5BC-9819-FDBD518A79C1}"/>
              </a:ext>
            </a:extLst>
          </p:cNvPr>
          <p:cNvSpPr/>
          <p:nvPr/>
        </p:nvSpPr>
        <p:spPr>
          <a:xfrm>
            <a:off x="870308" y="461452"/>
            <a:ext cx="5642004" cy="49212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A70954F-AF54-43D1-8B51-9B578BDF674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040996" cy="43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Veille technologique et réglementaire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66B966E-2ED7-A04E-D048-D21E1FEEF3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6D58D37-6556-2B31-0D97-A9D680F383E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444651-26B8-DE9E-2FA2-3AB14209906F}"/>
              </a:ext>
            </a:extLst>
          </p:cNvPr>
          <p:cNvSpPr txBox="1"/>
          <p:nvPr/>
        </p:nvSpPr>
        <p:spPr>
          <a:xfrm>
            <a:off x="95585" y="1428843"/>
            <a:ext cx="86643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Amazon S3 </a:t>
            </a:r>
            <a:r>
              <a:rPr lang="fr-FR" dirty="0">
                <a:solidFill>
                  <a:srgbClr val="002060"/>
                </a:solidFill>
              </a:rPr>
              <a:t>: devient une vraie brique de data </a:t>
            </a:r>
            <a:r>
              <a:rPr lang="fr-FR" dirty="0" err="1">
                <a:solidFill>
                  <a:srgbClr val="002060"/>
                </a:solidFill>
              </a:rPr>
              <a:t>lake</a:t>
            </a:r>
            <a:r>
              <a:rPr lang="fr-FR" dirty="0">
                <a:solidFill>
                  <a:srgbClr val="002060"/>
                </a:solidFill>
              </a:rPr>
              <a:t> intelligente avec des optimisations automatiques des coûts. Idéal pour le stockage massif, historisation et gouvernance de données brutes.</a:t>
            </a:r>
          </a:p>
          <a:p>
            <a:r>
              <a:rPr lang="fr-FR" b="1" u="sng" dirty="0" err="1">
                <a:solidFill>
                  <a:srgbClr val="002060"/>
                </a:solidFill>
              </a:rPr>
              <a:t>Snowflake</a:t>
            </a:r>
            <a:r>
              <a:rPr lang="fr-FR" dirty="0">
                <a:solidFill>
                  <a:srgbClr val="002060"/>
                </a:solidFill>
              </a:rPr>
              <a:t> : datawarehouse plus rapide et plus sécurisés, il renforce la data gouvernance et la </a:t>
            </a:r>
            <a:r>
              <a:rPr lang="fr-FR" dirty="0" err="1">
                <a:solidFill>
                  <a:srgbClr val="002060"/>
                </a:solidFill>
              </a:rPr>
              <a:t>perfomance</a:t>
            </a:r>
            <a:r>
              <a:rPr lang="fr-FR" dirty="0">
                <a:solidFill>
                  <a:srgbClr val="002060"/>
                </a:solidFill>
              </a:rPr>
              <a:t> analytique sur une seule plateforme.</a:t>
            </a:r>
          </a:p>
          <a:p>
            <a:r>
              <a:rPr lang="fr-FR" b="1" u="sng" dirty="0" err="1">
                <a:solidFill>
                  <a:srgbClr val="002060"/>
                </a:solidFill>
              </a:rPr>
              <a:t>Databricks</a:t>
            </a:r>
            <a:r>
              <a:rPr lang="fr-FR" dirty="0">
                <a:solidFill>
                  <a:srgbClr val="002060"/>
                </a:solidFill>
              </a:rPr>
              <a:t> : plateforme </a:t>
            </a:r>
            <a:r>
              <a:rPr lang="fr-FR" dirty="0" err="1">
                <a:solidFill>
                  <a:srgbClr val="002060"/>
                </a:solidFill>
              </a:rPr>
              <a:t>lakehouse</a:t>
            </a:r>
            <a:r>
              <a:rPr lang="fr-FR" dirty="0">
                <a:solidFill>
                  <a:srgbClr val="002060"/>
                </a:solidFill>
              </a:rPr>
              <a:t> (combine data </a:t>
            </a:r>
            <a:r>
              <a:rPr lang="fr-FR" dirty="0" err="1">
                <a:solidFill>
                  <a:srgbClr val="002060"/>
                </a:solidFill>
              </a:rPr>
              <a:t>lake</a:t>
            </a:r>
            <a:r>
              <a:rPr lang="fr-FR" dirty="0">
                <a:solidFill>
                  <a:srgbClr val="002060"/>
                </a:solidFill>
              </a:rPr>
              <a:t> + data </a:t>
            </a:r>
            <a:r>
              <a:rPr lang="fr-FR" dirty="0" err="1">
                <a:solidFill>
                  <a:srgbClr val="002060"/>
                </a:solidFill>
              </a:rPr>
              <a:t>warehouse</a:t>
            </a:r>
            <a:r>
              <a:rPr lang="fr-FR" dirty="0">
                <a:solidFill>
                  <a:srgbClr val="002060"/>
                </a:solidFill>
              </a:rPr>
              <a:t> + AI/ML) donne une meilleure production des modèles, idéal pour industrialiser le ML et data </a:t>
            </a:r>
            <a:r>
              <a:rPr lang="fr-FR" dirty="0" err="1">
                <a:solidFill>
                  <a:srgbClr val="002060"/>
                </a:solidFill>
              </a:rPr>
              <a:t>quality</a:t>
            </a:r>
            <a:r>
              <a:rPr lang="fr-FR" dirty="0">
                <a:solidFill>
                  <a:srgbClr val="002060"/>
                </a:solidFill>
              </a:rPr>
              <a:t> à grande échelle.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Amazon </a:t>
            </a:r>
            <a:r>
              <a:rPr lang="fr-FR" b="1" u="sng" dirty="0" err="1">
                <a:solidFill>
                  <a:srgbClr val="002060"/>
                </a:solidFill>
              </a:rPr>
              <a:t>SageMaker</a:t>
            </a:r>
            <a:r>
              <a:rPr lang="fr-FR" b="1" u="sng" dirty="0">
                <a:solidFill>
                  <a:srgbClr val="002060"/>
                </a:solidFill>
              </a:rPr>
              <a:t> </a:t>
            </a:r>
            <a:r>
              <a:rPr lang="fr-FR" dirty="0">
                <a:solidFill>
                  <a:srgbClr val="002060"/>
                </a:solidFill>
              </a:rPr>
              <a:t>: plateforme de ML managée (entrainement modèles, dépoilement de modèles). Permet un meilleur contrôle de données.</a:t>
            </a:r>
          </a:p>
          <a:p>
            <a:r>
              <a:rPr lang="fr-FR" b="1" u="sng" dirty="0" err="1">
                <a:solidFill>
                  <a:srgbClr val="002060"/>
                </a:solidFill>
              </a:rPr>
              <a:t>Zero</a:t>
            </a:r>
            <a:r>
              <a:rPr lang="fr-FR" b="1" u="sng" dirty="0">
                <a:solidFill>
                  <a:srgbClr val="002060"/>
                </a:solidFill>
              </a:rPr>
              <a:t>-shot</a:t>
            </a:r>
            <a:r>
              <a:rPr lang="fr-FR" dirty="0">
                <a:solidFill>
                  <a:srgbClr val="002060"/>
                </a:solidFill>
              </a:rPr>
              <a:t> : classification de texte sans données d’entraînement spécifiques, très rapide à déployer.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VADER</a:t>
            </a:r>
            <a:r>
              <a:rPr lang="fr-FR" dirty="0">
                <a:solidFill>
                  <a:srgbClr val="002060"/>
                </a:solidFill>
              </a:rPr>
              <a:t> ; analyse de sentiment efficace pour les avis clients.</a:t>
            </a:r>
          </a:p>
        </p:txBody>
      </p:sp>
      <p:pic>
        <p:nvPicPr>
          <p:cNvPr id="7" name="Image 6" descr="Une image contenant Polic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06A002EC-0104-417F-1712-3E388C6CF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35" y="718309"/>
            <a:ext cx="1579249" cy="377704"/>
          </a:xfrm>
          <a:prstGeom prst="rect">
            <a:avLst/>
          </a:prstGeom>
        </p:spPr>
      </p:pic>
      <p:pic>
        <p:nvPicPr>
          <p:cNvPr id="10" name="Image 9" descr="Une image contenant texte, Graphique, Police, logo&#10;&#10;Le contenu généré par l’IA peut être incorrect.">
            <a:extLst>
              <a:ext uri="{FF2B5EF4-FFF2-40B4-BE49-F238E27FC236}">
                <a16:creationId xmlns:a16="http://schemas.microsoft.com/office/drawing/2014/main" id="{C9C3E3AB-1875-5753-2530-0103E798A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912" y="583088"/>
            <a:ext cx="1300976" cy="683012"/>
          </a:xfrm>
          <a:prstGeom prst="rect">
            <a:avLst/>
          </a:prstGeom>
        </p:spPr>
      </p:pic>
      <p:pic>
        <p:nvPicPr>
          <p:cNvPr id="12" name="Image 11" descr="Une image contenant capture d’écran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672E3602-F9F5-95B5-9022-05E250EBE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226" y="608917"/>
            <a:ext cx="1124083" cy="674450"/>
          </a:xfrm>
          <a:prstGeom prst="rect">
            <a:avLst/>
          </a:prstGeom>
        </p:spPr>
      </p:pic>
      <p:pic>
        <p:nvPicPr>
          <p:cNvPr id="14" name="Image 13" descr="Une image contenant Graphique, capture d’écran, symbole, graphisme&#10;&#10;Le contenu généré par l’IA peut être incorrect.">
            <a:extLst>
              <a:ext uri="{FF2B5EF4-FFF2-40B4-BE49-F238E27FC236}">
                <a16:creationId xmlns:a16="http://schemas.microsoft.com/office/drawing/2014/main" id="{A09B583A-DF45-A50B-DE98-591679BFCA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395" y="535865"/>
            <a:ext cx="2379605" cy="820554"/>
          </a:xfrm>
          <a:prstGeom prst="rect">
            <a:avLst/>
          </a:prstGeom>
        </p:spPr>
      </p:pic>
      <p:pic>
        <p:nvPicPr>
          <p:cNvPr id="4" name="Image 3" descr="Une image contenant Graphique, Police, clipart, logo&#10;&#10;Le contenu généré par l’IA peut être incorrect.">
            <a:extLst>
              <a:ext uri="{FF2B5EF4-FFF2-40B4-BE49-F238E27FC236}">
                <a16:creationId xmlns:a16="http://schemas.microsoft.com/office/drawing/2014/main" id="{209125F9-A7AF-E45E-E6ED-15C5BE4F89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8164" y="746080"/>
            <a:ext cx="1631801" cy="48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64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9D80833-1637-E6D8-9606-BAB426CC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5096BB53-B976-2DAB-27B3-3201E75F37CD}"/>
              </a:ext>
            </a:extLst>
          </p:cNvPr>
          <p:cNvSpPr/>
          <p:nvPr/>
        </p:nvSpPr>
        <p:spPr>
          <a:xfrm>
            <a:off x="870308" y="461452"/>
            <a:ext cx="5642004" cy="49212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D77CBA7-8455-1417-256F-70DEDC088C6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040996" cy="43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Veille technologique et réglementaire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59FCEB84-22C0-70AF-F64D-81B574AB82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D418D0B-CE12-2AF5-F691-F58FB143046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FB4884-E123-9B50-798C-8422F9243BBC}"/>
              </a:ext>
            </a:extLst>
          </p:cNvPr>
          <p:cNvSpPr txBox="1"/>
          <p:nvPr/>
        </p:nvSpPr>
        <p:spPr>
          <a:xfrm>
            <a:off x="503163" y="1432976"/>
            <a:ext cx="83429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</a:rPr>
              <a:t>Veille réglementaire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RGPD : demeure la référence sur consentement, minimisation, anonymisation ou </a:t>
            </a:r>
            <a:r>
              <a:rPr lang="fr-FR" dirty="0" err="1">
                <a:solidFill>
                  <a:srgbClr val="002060"/>
                </a:solidFill>
              </a:rPr>
              <a:t>pseudonymisation</a:t>
            </a:r>
            <a:r>
              <a:rPr lang="fr-FR" dirty="0">
                <a:solidFill>
                  <a:srgbClr val="002060"/>
                </a:solidFill>
              </a:rPr>
              <a:t> des données à caractères personnelles.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CCPA : L’équivalent californien du RGPD : impose le droit à l’information, à la suppression et à l’opposition à la vente des données personnelles.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AI </a:t>
            </a:r>
            <a:r>
              <a:rPr lang="fr-FR" dirty="0" err="1">
                <a:solidFill>
                  <a:srgbClr val="002060"/>
                </a:solidFill>
              </a:rPr>
              <a:t>Act</a:t>
            </a:r>
            <a:r>
              <a:rPr lang="fr-FR" dirty="0">
                <a:solidFill>
                  <a:srgbClr val="002060"/>
                </a:solidFill>
              </a:rPr>
              <a:t> (</a:t>
            </a:r>
            <a:r>
              <a:rPr lang="fr-FR" dirty="0" err="1">
                <a:solidFill>
                  <a:srgbClr val="002060"/>
                </a:solidFill>
              </a:rPr>
              <a:t>Régment</a:t>
            </a:r>
            <a:r>
              <a:rPr lang="fr-FR" dirty="0">
                <a:solidFill>
                  <a:srgbClr val="002060"/>
                </a:solidFill>
              </a:rPr>
              <a:t> UE) : L’AI </a:t>
            </a:r>
            <a:r>
              <a:rPr lang="fr-FR" dirty="0" err="1">
                <a:solidFill>
                  <a:srgbClr val="002060"/>
                </a:solidFill>
              </a:rPr>
              <a:t>Act</a:t>
            </a:r>
            <a:r>
              <a:rPr lang="fr-FR" dirty="0">
                <a:solidFill>
                  <a:srgbClr val="002060"/>
                </a:solidFill>
              </a:rPr>
              <a:t> impose des obligations de transparence (déclarations si contenu IA), restrictions sur la manipulation.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RSE : encourage une IA éthique et sobre en évaluant l’empreinte carbone des modèles, choix cloud responsables, et inclusion sociale dans les projets IA. Tendance forte en 2025.</a:t>
            </a:r>
          </a:p>
        </p:txBody>
      </p:sp>
    </p:spTree>
    <p:extLst>
      <p:ext uri="{BB962C8B-B14F-4D97-AF65-F5344CB8AC3E}">
        <p14:creationId xmlns:p14="http://schemas.microsoft.com/office/powerpoint/2010/main" val="208127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95456CC-0BA8-7854-D0A9-508620F3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A2E88D8D-BBD6-6189-6A47-B84221551765}"/>
              </a:ext>
            </a:extLst>
          </p:cNvPr>
          <p:cNvSpPr/>
          <p:nvPr/>
        </p:nvSpPr>
        <p:spPr>
          <a:xfrm>
            <a:off x="870308" y="461452"/>
            <a:ext cx="5642004" cy="49212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BE92227-126F-4D98-6829-1ED87DA0B67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7040996" cy="435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Veille technologique et réglementaire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9A90BAD0-845A-E6C8-83E5-9F70B31FF6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7CBE91D-9722-20C1-C0F4-39FE7FB98D3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B5DCAE3-40CA-91D4-3E3C-58C9A4D81C7D}"/>
              </a:ext>
            </a:extLst>
          </p:cNvPr>
          <p:cNvSpPr txBox="1"/>
          <p:nvPr/>
        </p:nvSpPr>
        <p:spPr>
          <a:xfrm>
            <a:off x="1485970" y="1589293"/>
            <a:ext cx="7040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Le partage de la veille technologique et réglementaire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Partage complet dans de la documentation Confluence.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002060"/>
                </a:solidFill>
              </a:rPr>
              <a:t>Partage via un canal dédié sur Teams.</a:t>
            </a:r>
          </a:p>
        </p:txBody>
      </p:sp>
    </p:spTree>
    <p:extLst>
      <p:ext uri="{BB962C8B-B14F-4D97-AF65-F5344CB8AC3E}">
        <p14:creationId xmlns:p14="http://schemas.microsoft.com/office/powerpoint/2010/main" val="351041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4309BF-DA02-C5F4-601F-6BBECCB6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97CDCCB0-1B2E-C1B6-19DD-6FDF7E95E3C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Sélection des données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D8937EF4-B18A-CF1D-811F-4895E4784C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5125E5E1-2CE3-F445-0E87-9667E8FF0AD4}"/>
              </a:ext>
            </a:extLst>
          </p:cNvPr>
          <p:cNvSpPr/>
          <p:nvPr/>
        </p:nvSpPr>
        <p:spPr>
          <a:xfrm flipV="1">
            <a:off x="1131712" y="2453268"/>
            <a:ext cx="6436249" cy="5371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877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1D62564-33DF-68E3-35B3-DE983269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FFC5330-8D99-057B-2FC1-A32961A9BEF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Sélection des données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1DB844C-428A-9978-D7A9-21869D6A6D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D7274B1-3565-AF89-56E2-D3C0E4ADD89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5AB9C8E1-34C1-990A-19EA-9B2C3D39CDF2}"/>
              </a:ext>
            </a:extLst>
          </p:cNvPr>
          <p:cNvSpPr/>
          <p:nvPr/>
        </p:nvSpPr>
        <p:spPr>
          <a:xfrm>
            <a:off x="870309" y="438274"/>
            <a:ext cx="3478667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EDE41C3-20BD-F142-73F8-FFE771F600CE}"/>
              </a:ext>
            </a:extLst>
          </p:cNvPr>
          <p:cNvSpPr txBox="1"/>
          <p:nvPr/>
        </p:nvSpPr>
        <p:spPr>
          <a:xfrm>
            <a:off x="384035" y="2774423"/>
            <a:ext cx="6938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Pourquoi cette phase ?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Mieux comprendre la structure des données.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Identifier les tables nécessaires au cas d’utilisation identifié.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Commencer à visualiser la solution.</a:t>
            </a:r>
          </a:p>
        </p:txBody>
      </p:sp>
      <p:pic>
        <p:nvPicPr>
          <p:cNvPr id="7" name="Graphique 6" descr="Base de données avec un remplissage uni">
            <a:extLst>
              <a:ext uri="{FF2B5EF4-FFF2-40B4-BE49-F238E27FC236}">
                <a16:creationId xmlns:a16="http://schemas.microsoft.com/office/drawing/2014/main" id="{F17C6CA5-C432-5F87-BFFE-B3EA7768A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285" y="1221083"/>
            <a:ext cx="914400" cy="914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61F9129-FB10-B1BA-7D0A-E47712BCF9C0}"/>
              </a:ext>
            </a:extLst>
          </p:cNvPr>
          <p:cNvSpPr txBox="1"/>
          <p:nvPr/>
        </p:nvSpPr>
        <p:spPr>
          <a:xfrm>
            <a:off x="1196898" y="1115122"/>
            <a:ext cx="6207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REVIEW : Récupérer tous les avis des clients.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PRODUCT_REVIEW : Récupérer les liens entre produit et avis.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PRODUCT : récupérer les produits.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CATEGORY : récupérer les catégories des produits.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REVIEW_IMAGES : récupérer les avis qui ont des images.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BUYER : identifier l’acheteur.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B55F1DF-EF1B-E524-1FF2-BDBCC2FB4B0A}"/>
              </a:ext>
            </a:extLst>
          </p:cNvPr>
          <p:cNvSpPr txBox="1"/>
          <p:nvPr/>
        </p:nvSpPr>
        <p:spPr>
          <a:xfrm>
            <a:off x="384035" y="4577883"/>
            <a:ext cx="76348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002060"/>
                </a:solidFill>
              </a:rPr>
              <a:t>* SHIPMENT : table très intéressante avec des informations riches. Mais sa volumétrie est de 5 lignes.</a:t>
            </a:r>
          </a:p>
        </p:txBody>
      </p:sp>
    </p:spTree>
    <p:extLst>
      <p:ext uri="{BB962C8B-B14F-4D97-AF65-F5344CB8AC3E}">
        <p14:creationId xmlns:p14="http://schemas.microsoft.com/office/powerpoint/2010/main" val="4218675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AD41E6B-2CF8-4011-055D-7720180E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672AC74-5B14-5712-5977-F24C5061CAF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CA038CF7-4372-6E03-ECDF-EA1014E705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70FE0856-D359-A5B6-6925-F000697830F7}"/>
              </a:ext>
            </a:extLst>
          </p:cNvPr>
          <p:cNvSpPr/>
          <p:nvPr/>
        </p:nvSpPr>
        <p:spPr>
          <a:xfrm flipV="1">
            <a:off x="1131712" y="2461258"/>
            <a:ext cx="269687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074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3E137E1-66AE-B695-01B6-4B43B36D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165C77F-14CF-9455-64FB-F11928FD2FCB}"/>
              </a:ext>
            </a:extLst>
          </p:cNvPr>
          <p:cNvSpPr/>
          <p:nvPr/>
        </p:nvSpPr>
        <p:spPr>
          <a:xfrm>
            <a:off x="870309" y="464944"/>
            <a:ext cx="155322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7F46614-BF5A-8D3E-2832-13CB7493E52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F189065-E014-C01E-8791-D3D53B4EEF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3B74340-C1FB-72A9-0230-490325E4B9E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C09A2C-7F21-A746-58B8-371D32BC5296}"/>
              </a:ext>
            </a:extLst>
          </p:cNvPr>
          <p:cNvSpPr txBox="1"/>
          <p:nvPr/>
        </p:nvSpPr>
        <p:spPr>
          <a:xfrm>
            <a:off x="-6921" y="600190"/>
            <a:ext cx="33076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Phase 1 : Comprendre les données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1D1ED5-6AEF-39BB-B42A-F93032EF74FC}"/>
              </a:ext>
            </a:extLst>
          </p:cNvPr>
          <p:cNvSpPr txBox="1"/>
          <p:nvPr/>
        </p:nvSpPr>
        <p:spPr>
          <a:xfrm>
            <a:off x="95585" y="1908926"/>
            <a:ext cx="3969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002060"/>
                </a:solidFill>
              </a:rPr>
              <a:t>1 produit avec 376 avis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73,1 % des avis ont 5 étoiles.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28,5% des avis ont une photo.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Médiane sur la distribution du texte : 58 caractères.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Moyenne sur la distribution du texte : 160 caractères.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FF16F6A-9942-7E86-D638-476191461C66}"/>
              </a:ext>
            </a:extLst>
          </p:cNvPr>
          <p:cNvSpPr txBox="1"/>
          <p:nvPr/>
        </p:nvSpPr>
        <p:spPr>
          <a:xfrm>
            <a:off x="4289491" y="1923669"/>
            <a:ext cx="42820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002060"/>
                </a:solidFill>
              </a:rPr>
              <a:t>10 produits avec 2592 avis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76,4 % des avis ont 5 étoiles.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31,6 % des avis ont une photo.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Médiane sur la distribution du texte : 44 caractères.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002060"/>
                </a:solidFill>
              </a:rPr>
              <a:t>Moyenne sur la distribution du texte : 117 caractères.</a:t>
            </a:r>
          </a:p>
        </p:txBody>
      </p:sp>
    </p:spTree>
    <p:extLst>
      <p:ext uri="{BB962C8B-B14F-4D97-AF65-F5344CB8AC3E}">
        <p14:creationId xmlns:p14="http://schemas.microsoft.com/office/powerpoint/2010/main" val="798004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7529DB4-4394-952B-5B93-BFFBFBE2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A9F8C737-BF06-4645-5439-73C144C8A3D4}"/>
              </a:ext>
            </a:extLst>
          </p:cNvPr>
          <p:cNvSpPr/>
          <p:nvPr/>
        </p:nvSpPr>
        <p:spPr>
          <a:xfrm>
            <a:off x="870309" y="464944"/>
            <a:ext cx="155322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D62920F-8C73-2E18-F817-33C610E6A4D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82922B5D-DACC-76D8-A07D-0EE0A75A46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35B8D6A-9B1B-58AA-DB35-578556E5CD9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FF1C8B0-1308-8EA2-04AE-3627B689BF13}"/>
              </a:ext>
            </a:extLst>
          </p:cNvPr>
          <p:cNvSpPr txBox="1"/>
          <p:nvPr/>
        </p:nvSpPr>
        <p:spPr>
          <a:xfrm>
            <a:off x="0" y="622240"/>
            <a:ext cx="4029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Phase 1 : analyse sur 10 produits (2592 avis)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38095A0-BDBD-4427-D8BD-3AC0C48EF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44" y="1208682"/>
            <a:ext cx="2344400" cy="160207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8034E32-A67E-C08D-A394-DFE73512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165" y="3015777"/>
            <a:ext cx="2489870" cy="155282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501C10D-C97D-C403-8353-3EFC40BFA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746" y="1616889"/>
            <a:ext cx="1575306" cy="209086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A9B0BAC-F1B8-20A2-4712-32E3FD6AA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4165" y="1202126"/>
            <a:ext cx="2424958" cy="154125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381199B-7E71-C29E-9429-ADC5C4426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990" y="3072340"/>
            <a:ext cx="2651093" cy="1603838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EF98850-43D6-94D8-38E7-6F8D070D97A2}"/>
              </a:ext>
            </a:extLst>
          </p:cNvPr>
          <p:cNvCxnSpPr/>
          <p:nvPr/>
        </p:nvCxnSpPr>
        <p:spPr>
          <a:xfrm>
            <a:off x="3516351" y="1003710"/>
            <a:ext cx="0" cy="3672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561C22D-AE8A-DB68-2971-67A4AAD72D83}"/>
              </a:ext>
            </a:extLst>
          </p:cNvPr>
          <p:cNvCxnSpPr>
            <a:cxnSpLocks/>
          </p:cNvCxnSpPr>
          <p:nvPr/>
        </p:nvCxnSpPr>
        <p:spPr>
          <a:xfrm flipV="1">
            <a:off x="672485" y="2806549"/>
            <a:ext cx="6441993" cy="24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764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6B5BE2B-6699-3CB2-42A3-65B225A2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B30C0CA7-6CD0-91B7-3E74-4563007936B9}"/>
              </a:ext>
            </a:extLst>
          </p:cNvPr>
          <p:cNvSpPr/>
          <p:nvPr/>
        </p:nvSpPr>
        <p:spPr>
          <a:xfrm>
            <a:off x="870309" y="464944"/>
            <a:ext cx="1553223" cy="45719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729B744-1E58-964F-A598-C510402D4AE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Prototype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09AF481-BB0A-6146-6C9B-19A6977229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D8BBF0C-0E3E-440C-EA81-D1F4769BB3C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45C644-DFC1-D732-A2CA-ED865B71D135}"/>
              </a:ext>
            </a:extLst>
          </p:cNvPr>
          <p:cNvSpPr txBox="1"/>
          <p:nvPr/>
        </p:nvSpPr>
        <p:spPr>
          <a:xfrm>
            <a:off x="1" y="641856"/>
            <a:ext cx="4363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2060"/>
                </a:solidFill>
              </a:rPr>
              <a:t>Phase 2 : Appliquer un algorithme de pondération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B691BA-AAEA-899C-7D1C-3F7C1AFEC8A1}"/>
              </a:ext>
            </a:extLst>
          </p:cNvPr>
          <p:cNvSpPr txBox="1"/>
          <p:nvPr/>
        </p:nvSpPr>
        <p:spPr>
          <a:xfrm>
            <a:off x="1835071" y="1872690"/>
            <a:ext cx="42820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ctr"/>
            <a:r>
              <a:rPr lang="fr-FR" b="1" dirty="0">
                <a:solidFill>
                  <a:srgbClr val="002060"/>
                </a:solidFill>
              </a:rPr>
              <a:t>Calculer la pertinence 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30 % sur la longueur du texte.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20 % sur la présence d’une image dans l’avis.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10 % si celui qui a commenté a effectué un achat.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15 % sur la note laissée si elle est de 1 ou 5.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2060"/>
                </a:solidFill>
              </a:rPr>
              <a:t>25 % sur les mots utilisés dans le commentaire.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2060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33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021B918-EC0D-1A6B-3B74-09BCEFD1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C84F02F-270B-2E45-B20C-3964EED4429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La solution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1657C72C-C83A-D07C-34BB-BD973B06F4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DEF316AC-84B7-8286-41CA-269CC858C2EF}"/>
              </a:ext>
            </a:extLst>
          </p:cNvPr>
          <p:cNvSpPr/>
          <p:nvPr/>
        </p:nvSpPr>
        <p:spPr>
          <a:xfrm flipV="1">
            <a:off x="1131712" y="2445833"/>
            <a:ext cx="3083449" cy="53151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65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FF7AFC4-B583-E8A0-F774-E7BF00D8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1D6E3BA-62C0-3B7B-731F-06E57108195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solution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7901396-8043-C9CD-3D36-C3F313E4E8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67E3389-D10E-61B9-7526-DB1031CEB55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C1925995-86EE-93AD-1A8F-912495D316DE}"/>
              </a:ext>
            </a:extLst>
          </p:cNvPr>
          <p:cNvSpPr/>
          <p:nvPr/>
        </p:nvSpPr>
        <p:spPr>
          <a:xfrm>
            <a:off x="870309" y="438274"/>
            <a:ext cx="1791115" cy="7239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43B0887-9AD9-91D7-EFE1-53ADA306D5D2}"/>
              </a:ext>
            </a:extLst>
          </p:cNvPr>
          <p:cNvSpPr txBox="1"/>
          <p:nvPr/>
        </p:nvSpPr>
        <p:spPr>
          <a:xfrm>
            <a:off x="275720" y="640960"/>
            <a:ext cx="4073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2060"/>
                </a:solidFill>
              </a:rPr>
              <a:t>Spécifications fonctionnelles et techniques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98D791-E08F-200D-82D8-701E7F8B2747}"/>
              </a:ext>
            </a:extLst>
          </p:cNvPr>
          <p:cNvSpPr txBox="1"/>
          <p:nvPr/>
        </p:nvSpPr>
        <p:spPr>
          <a:xfrm>
            <a:off x="573013" y="1448365"/>
            <a:ext cx="7188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Objectifs :</a:t>
            </a:r>
          </a:p>
          <a:p>
            <a:r>
              <a:rPr lang="fr-FR" dirty="0">
                <a:solidFill>
                  <a:srgbClr val="002060"/>
                </a:solidFill>
              </a:rPr>
              <a:t>Développer une solution automatisée pour classer les avis et détecter les avis les plus pertinents.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Contraintes :</a:t>
            </a:r>
          </a:p>
          <a:p>
            <a:r>
              <a:rPr lang="fr-FR" dirty="0">
                <a:solidFill>
                  <a:srgbClr val="002060"/>
                </a:solidFill>
              </a:rPr>
              <a:t>- Jeu de données limité.</a:t>
            </a:r>
          </a:p>
          <a:p>
            <a:r>
              <a:rPr lang="fr-FR" dirty="0">
                <a:solidFill>
                  <a:srgbClr val="002060"/>
                </a:solidFill>
              </a:rPr>
              <a:t>- Infrastructure favoriser les solutions gratuites/open source ou les moins coûteuses.</a:t>
            </a:r>
          </a:p>
          <a:p>
            <a:r>
              <a:rPr lang="fr-FR" b="1" u="sng" dirty="0">
                <a:solidFill>
                  <a:srgbClr val="002060"/>
                </a:solidFill>
              </a:rPr>
              <a:t>Considérations réglementaires et éthiques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Respect des réglementations (RGPD, CCPA).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Anonymisation des données à caractères personnelles.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/>
                </a:solidFill>
              </a:rPr>
              <a:t>Neutralité des critères (dans la pondération).</a:t>
            </a:r>
          </a:p>
        </p:txBody>
      </p:sp>
    </p:spTree>
    <p:extLst>
      <p:ext uri="{BB962C8B-B14F-4D97-AF65-F5344CB8AC3E}">
        <p14:creationId xmlns:p14="http://schemas.microsoft.com/office/powerpoint/2010/main" val="4043199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25E0D67-3C4B-8CFC-418A-D74C404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65E19FA-61FE-8CF4-6DE8-B24DC7586B3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1" y="1702750"/>
            <a:ext cx="7627943" cy="8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581B2FBE-5B70-159F-24A5-412C80000A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6;p15">
            <a:extLst>
              <a:ext uri="{FF2B5EF4-FFF2-40B4-BE49-F238E27FC236}">
                <a16:creationId xmlns:a16="http://schemas.microsoft.com/office/drawing/2014/main" id="{549AC6D0-FFD8-3D06-0BD4-57E918978FAE}"/>
              </a:ext>
            </a:extLst>
          </p:cNvPr>
          <p:cNvSpPr/>
          <p:nvPr/>
        </p:nvSpPr>
        <p:spPr>
          <a:xfrm flipV="1">
            <a:off x="1131712" y="2430966"/>
            <a:ext cx="3172659" cy="7601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367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355F9D7-3D67-DB72-E41E-485B9356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57D16E5-6B34-59B9-6D7B-F29949F4ACE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802028" y="25974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2500" dirty="0">
              <a:solidFill>
                <a:srgbClr val="00206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1C68D98A-0EAB-9320-6E9A-B9BBC3BC6C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7B2D1AE-75B5-CC84-84AE-E8D47BA0BAB9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FFE0D61E-9BCF-FDC5-5235-536488A90E19}"/>
              </a:ext>
            </a:extLst>
          </p:cNvPr>
          <p:cNvSpPr/>
          <p:nvPr/>
        </p:nvSpPr>
        <p:spPr>
          <a:xfrm>
            <a:off x="870309" y="446048"/>
            <a:ext cx="1761379" cy="64615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0C644F-25A4-4164-AA59-25EF9073F6A1}"/>
              </a:ext>
            </a:extLst>
          </p:cNvPr>
          <p:cNvSpPr txBox="1"/>
          <p:nvPr/>
        </p:nvSpPr>
        <p:spPr>
          <a:xfrm>
            <a:off x="2141028" y="1925419"/>
            <a:ext cx="48619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rgbClr val="002060"/>
                </a:solidFill>
              </a:rPr>
              <a:t>Présentation des résultats des prototypes :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Les résultats avec Stats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Les limites (les étoiles positifs…)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Perspectives pour y remédier introduire une approche plus robuste, avec les technos identifiés dans la veille techno + zéro shot</a:t>
            </a:r>
          </a:p>
          <a:p>
            <a:pPr algn="ctr"/>
            <a:r>
              <a:rPr lang="fr-FR" sz="1800" dirty="0">
                <a:solidFill>
                  <a:srgbClr val="002060"/>
                </a:solidFill>
              </a:rPr>
              <a:t>Après passage à la phase 2</a:t>
            </a:r>
          </a:p>
        </p:txBody>
      </p:sp>
    </p:spTree>
    <p:extLst>
      <p:ext uri="{BB962C8B-B14F-4D97-AF65-F5344CB8AC3E}">
        <p14:creationId xmlns:p14="http://schemas.microsoft.com/office/powerpoint/2010/main" val="77238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7"/>
            <a:ext cx="5315100" cy="1142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40CB6479-760E-1555-9CBC-5C0D2069BE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2566</TotalTime>
  <Words>1004</Words>
  <Application>Microsoft Office PowerPoint</Application>
  <PresentationFormat>Affichage à l'écran (16:9)</PresentationFormat>
  <Paragraphs>151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Inter SemiBold</vt:lpstr>
      <vt:lpstr>Inter</vt:lpstr>
      <vt:lpstr>Arial</vt:lpstr>
      <vt:lpstr>Inter Medium</vt:lpstr>
      <vt:lpstr>Wingdings</vt:lpstr>
      <vt:lpstr>Calibri</vt:lpstr>
      <vt:lpstr>Aptos</vt:lpstr>
      <vt:lpstr>Simple Light</vt:lpstr>
      <vt:lpstr>Amazon Review Analysis</vt:lpstr>
      <vt:lpstr>Plan</vt:lpstr>
      <vt:lpstr>Introduction</vt:lpstr>
      <vt:lpstr>Introduction</vt:lpstr>
      <vt:lpstr>Identification du besoin</vt:lpstr>
      <vt:lpstr>Besoin identifié</vt:lpstr>
      <vt:lpstr>Besoin identifié</vt:lpstr>
      <vt:lpstr>Besoin identifié</vt:lpstr>
      <vt:lpstr>Veille technologique et réglementaire</vt:lpstr>
      <vt:lpstr>Veille technologique et réglementaire</vt:lpstr>
      <vt:lpstr>Veille technologique et réglementaire</vt:lpstr>
      <vt:lpstr>Veille technologique et réglementaire</vt:lpstr>
      <vt:lpstr>Sélection des données</vt:lpstr>
      <vt:lpstr>Sélection des données</vt:lpstr>
      <vt:lpstr>Prototype</vt:lpstr>
      <vt:lpstr>Prototype</vt:lpstr>
      <vt:lpstr>Prototype</vt:lpstr>
      <vt:lpstr>Prototype</vt:lpstr>
      <vt:lpstr>La solution</vt:lpstr>
      <vt:lpstr>La solution</vt:lpstr>
      <vt:lpstr>Conclusion</vt:lpstr>
      <vt:lpstr>Conclusion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ismael sylla</dc:creator>
  <cp:lastModifiedBy>ismael sylla</cp:lastModifiedBy>
  <cp:revision>55</cp:revision>
  <dcterms:modified xsi:type="dcterms:W3CDTF">2025-12-09T12:17:49Z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3e49bf-5c7f-4a8a-bbbc-7213e78f5e38_Enabled">
    <vt:lpwstr>true</vt:lpwstr>
  </property>
  <property fmtid="{D5CDD505-2E9C-101B-9397-08002B2CF9AE}" pid="3" name="MSIP_Label_663e49bf-5c7f-4a8a-bbbc-7213e78f5e38_SetDate">
    <vt:lpwstr>2025-11-02T15:19:33Z</vt:lpwstr>
  </property>
  <property fmtid="{D5CDD505-2E9C-101B-9397-08002B2CF9AE}" pid="4" name="MSIP_Label_663e49bf-5c7f-4a8a-bbbc-7213e78f5e38_Method">
    <vt:lpwstr>Standard</vt:lpwstr>
  </property>
  <property fmtid="{D5CDD505-2E9C-101B-9397-08002B2CF9AE}" pid="5" name="MSIP_Label_663e49bf-5c7f-4a8a-bbbc-7213e78f5e38_Name">
    <vt:lpwstr>C2 - Information à diffusion restreinte</vt:lpwstr>
  </property>
  <property fmtid="{D5CDD505-2E9C-101B-9397-08002B2CF9AE}" pid="6" name="MSIP_Label_663e49bf-5c7f-4a8a-bbbc-7213e78f5e38_SiteId">
    <vt:lpwstr>039c67fe-49fc-42f3-a2a4-0a85eee29a7d</vt:lpwstr>
  </property>
  <property fmtid="{D5CDD505-2E9C-101B-9397-08002B2CF9AE}" pid="7" name="MSIP_Label_663e49bf-5c7f-4a8a-bbbc-7213e78f5e38_ActionId">
    <vt:lpwstr>b6ce385c-0787-42fc-aa71-7b33b4b295e4</vt:lpwstr>
  </property>
  <property fmtid="{D5CDD505-2E9C-101B-9397-08002B2CF9AE}" pid="8" name="MSIP_Label_663e49bf-5c7f-4a8a-bbbc-7213e78f5e38_ContentBits">
    <vt:lpwstr>2</vt:lpwstr>
  </property>
  <property fmtid="{D5CDD505-2E9C-101B-9397-08002B2CF9AE}" pid="9" name="MSIP_Label_663e49bf-5c7f-4a8a-bbbc-7213e78f5e38_Tag">
    <vt:lpwstr>10, 3, 0, 1</vt:lpwstr>
  </property>
  <property fmtid="{D5CDD505-2E9C-101B-9397-08002B2CF9AE}" pid="10" name="ClassificationContentMarkingFooterLocations">
    <vt:lpwstr>Simple Light:3</vt:lpwstr>
  </property>
  <property fmtid="{D5CDD505-2E9C-101B-9397-08002B2CF9AE}" pid="11" name="ClassificationContentMarkingFooterText">
    <vt:lpwstr>C2 - Interne</vt:lpwstr>
  </property>
</Properties>
</file>