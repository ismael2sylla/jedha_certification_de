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</p:sldIdLst>
  <p:sldSz cx="18288000" cy="10287000"/>
  <p:notesSz cx="6858000" cy="9144000"/>
  <p:embeddedFontLst>
    <p:embeddedFont>
      <p:font typeface="Gotham" panose="020B0604020202020204" charset="0"/>
      <p:regular r:id="rId16"/>
    </p:embeddedFont>
    <p:embeddedFont>
      <p:font typeface="Gotham Bold" panose="020B0604020202020204" charset="0"/>
      <p:regular r:id="rId17"/>
    </p:embeddedFont>
    <p:embeddedFont>
      <p:font typeface="Inter SemiBold" panose="020B0604020202020204" charset="0"/>
      <p:regular r:id="rId18"/>
      <p:bold r:id="rId19"/>
    </p:embeddedFont>
    <p:embeddedFont>
      <p:font typeface="League Spartan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76" y="4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7C615-2329-438D-9178-03F886D25000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05553-8663-4A55-B189-4673C36862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91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jpeg"/><Relationship Id="rId7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71600" y="3473034"/>
            <a:ext cx="12956400" cy="123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lvl="0" algn="l"/>
            <a:r>
              <a:rPr lang="en-US" sz="8000" u="sng" spc="-44" dirty="0">
                <a:solidFill>
                  <a:schemeClr val="tx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Amazon Reviews</a:t>
            </a:r>
            <a:endParaRPr sz="8000" dirty="0">
              <a:solidFill>
                <a:schemeClr val="tx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9550" y="4381500"/>
            <a:ext cx="7636900" cy="509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01" y="1574750"/>
            <a:ext cx="1946550" cy="1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1470950" y="6171328"/>
            <a:ext cx="10630200" cy="1066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algn="l">
              <a:lnSpc>
                <a:spcPts val="8360"/>
              </a:lnSpc>
            </a:pPr>
            <a:br>
              <a:rPr lang="en-US" sz="5600" spc="-44" dirty="0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endParaRPr lang="en-US" spc="-44" dirty="0">
              <a:solidFill>
                <a:schemeClr val="accent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4" name="Image 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8E5C3BFE-7289-3D7A-8079-2BB73077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574750"/>
            <a:ext cx="2743199" cy="13589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9EC51B8-8B3E-BE6C-307D-0B30405AC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449578"/>
            <a:ext cx="5525759" cy="336092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B524730-6C0A-E312-EE2C-0C4BFD3B9D0B}"/>
              </a:ext>
            </a:extLst>
          </p:cNvPr>
          <p:cNvSpPr txBox="1"/>
          <p:nvPr/>
        </p:nvSpPr>
        <p:spPr>
          <a:xfrm>
            <a:off x="1678053" y="9029700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spc="-44" dirty="0">
                <a:solidFill>
                  <a:schemeClr val="tx2"/>
                </a:solidFill>
                <a:latin typeface="League Spartan"/>
              </a:rPr>
              <a:t>Ismaël SYLLA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81796" y="-541995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136800" y="4497386"/>
            <a:ext cx="7708544" cy="129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10100" spc="-505" dirty="0">
                <a:solidFill>
                  <a:srgbClr val="FAF2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91A82A-53C0-CA61-D902-CB37B6ECF0FD}"/>
              </a:ext>
            </a:extLst>
          </p:cNvPr>
          <p:cNvSpPr txBox="1"/>
          <p:nvPr/>
        </p:nvSpPr>
        <p:spPr>
          <a:xfrm>
            <a:off x="2667000" y="1133017"/>
            <a:ext cx="1093601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4000" b="1" dirty="0"/>
              <a:t>📚 Sommaire</a:t>
            </a:r>
          </a:p>
          <a:p>
            <a:pPr>
              <a:buFont typeface="+mj-lt"/>
              <a:buAutoNum type="arabicPeriod"/>
            </a:pPr>
            <a:r>
              <a:rPr lang="fr-FR" sz="4000" b="1" dirty="0"/>
              <a:t>Contexte et enjeux du projet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Objectifs de la plateforme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Architecture technique globale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Fonctionnement du pipeline </a:t>
            </a:r>
            <a:r>
              <a:rPr lang="fr-FR" sz="4000" b="1" dirty="0" err="1"/>
              <a:t>Airflow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Résultats obtenus &amp; mise en production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Support utilisateur &amp; documentation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Maintenance (corrective, préventive, évolutive)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Sécurité, RGPD &amp; gouvernance des données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Gestion des risques et résilience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Perspectives et évolutions futures</a:t>
            </a:r>
            <a:endParaRPr lang="fr-FR" sz="4000" dirty="0"/>
          </a:p>
          <a:p>
            <a:pPr>
              <a:buFont typeface="+mj-lt"/>
              <a:buAutoNum type="arabicPeriod"/>
            </a:pPr>
            <a:r>
              <a:rPr lang="fr-FR" sz="4000" b="1" dirty="0"/>
              <a:t>Conclusion &amp; impact métier</a:t>
            </a:r>
            <a:endParaRPr lang="fr-FR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4954" y="3587856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0972800" y="4976795"/>
            <a:ext cx="0" cy="4385452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3526594" y="4579267"/>
            <a:ext cx="422295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5"/>
              </a:lnSpc>
            </a:pPr>
            <a:r>
              <a:rPr lang="fr-FR" sz="2400" dirty="0">
                <a:solidFill>
                  <a:schemeClr val="tx2"/>
                </a:solidFill>
              </a:rPr>
              <a:t>Pourquoi analyser les avis clients Amazon ?</a:t>
            </a:r>
            <a:endParaRPr lang="en-US" sz="2400" spc="15" dirty="0">
              <a:solidFill>
                <a:schemeClr val="tx2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34954" y="2249398"/>
            <a:ext cx="8074697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Contexte</a:t>
            </a:r>
            <a:r>
              <a:rPr lang="en-US" sz="3899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et </a:t>
            </a:r>
            <a:r>
              <a:rPr lang="en-US" sz="3899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enjeux</a:t>
            </a:r>
            <a:endParaRPr lang="en-US" sz="3899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13252" y="-82674"/>
            <a:ext cx="6768300" cy="1312616"/>
            <a:chOff x="0" y="0"/>
            <a:chExt cx="1782597" cy="3457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2649929" y="1312616"/>
            <a:ext cx="5647596" cy="4487192"/>
            <a:chOff x="0" y="0"/>
            <a:chExt cx="3901440" cy="3099816"/>
          </a:xfrm>
        </p:grpSpPr>
        <p:sp>
          <p:nvSpPr>
            <p:cNvPr id="15" name="Freeform 15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649929" y="5799808"/>
            <a:ext cx="5647596" cy="4487192"/>
            <a:chOff x="0" y="0"/>
            <a:chExt cx="3901440" cy="3099816"/>
          </a:xfrm>
        </p:grpSpPr>
        <p:sp>
          <p:nvSpPr>
            <p:cNvPr id="18" name="Freeform 18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4"/>
              <a:stretch>
                <a:fillRect t="-526" b="-5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9200" y="22493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53D0854A-ECDA-9161-9954-8A83B2A7EC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5200" y="5258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 22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29FA274-DD50-AC8C-C983-BFC4BAAB17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0"/>
            <a:ext cx="3966498" cy="135895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E76386F-09E0-E4AC-EDF9-DBD3B5570B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55" y="-3776"/>
            <a:ext cx="3352800" cy="1302100"/>
          </a:xfrm>
          <a:prstGeom prst="rect">
            <a:avLst/>
          </a:prstGeom>
        </p:spPr>
      </p:pic>
      <p:pic>
        <p:nvPicPr>
          <p:cNvPr id="25" name="Google Shape;56;p13">
            <a:extLst>
              <a:ext uri="{FF2B5EF4-FFF2-40B4-BE49-F238E27FC236}">
                <a16:creationId xmlns:a16="http://schemas.microsoft.com/office/drawing/2014/main" id="{F07DC3F5-4C14-6999-30EF-9AE4B362D4A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Image 2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E15A4573-2CEB-C5C0-00A6-30D27B294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EAB9A1A-4452-4C01-D53D-DD6AC781F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1C4A57C7-666C-B6E5-BAB7-521A3A4D6FD5}"/>
              </a:ext>
            </a:extLst>
          </p:cNvPr>
          <p:cNvSpPr txBox="1"/>
          <p:nvPr/>
        </p:nvSpPr>
        <p:spPr>
          <a:xfrm>
            <a:off x="1012732" y="5707733"/>
            <a:ext cx="95831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Amazon reçoit des milliers d’avis chaque jour, souvent non structurés et peu exploitables en l’état.</a:t>
            </a:r>
          </a:p>
          <a:p>
            <a:r>
              <a:rPr lang="fr-FR" dirty="0"/>
              <a:t>Le besoin métier est clair : extraire de la valeur de cette masse de feedbacks pour améliorer produits et services.</a:t>
            </a:r>
          </a:p>
          <a:p>
            <a:r>
              <a:rPr lang="fr-FR" dirty="0"/>
              <a:t>Notre objectif : automatiser l’analyse via un pipeline NLP robuste, enrichir les avis, et les exposer aux équipes métiers.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355405"/>
            <a:ext cx="8477814" cy="3931595"/>
            <a:chOff x="0" y="0"/>
            <a:chExt cx="11303752" cy="524212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8731" b="18731"/>
            <a:stretch>
              <a:fillRect/>
            </a:stretch>
          </p:blipFill>
          <p:spPr>
            <a:xfrm>
              <a:off x="0" y="0"/>
              <a:ext cx="5588376" cy="5242127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14376" r="14376"/>
            <a:stretch>
              <a:fillRect/>
            </a:stretch>
          </p:blipFill>
          <p:spPr>
            <a:xfrm>
              <a:off x="5715376" y="0"/>
              <a:ext cx="5588376" cy="5242127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15708" y="3666253"/>
            <a:ext cx="1111965" cy="1113674"/>
          </a:xfrm>
          <a:custGeom>
            <a:avLst/>
            <a:gdLst/>
            <a:ahLst/>
            <a:cxnLst/>
            <a:rect l="l" t="t" r="r" b="b"/>
            <a:pathLst>
              <a:path w="1111965" h="1113674">
                <a:moveTo>
                  <a:pt x="0" y="0"/>
                </a:moveTo>
                <a:lnTo>
                  <a:pt x="1111965" y="0"/>
                </a:lnTo>
                <a:lnTo>
                  <a:pt x="1111965" y="1113674"/>
                </a:lnTo>
                <a:lnTo>
                  <a:pt x="0" y="111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2806511" y="3307056"/>
            <a:ext cx="5663048" cy="63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09" spc="1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🎯 Objectif global :</a:t>
            </a:r>
          </a:p>
          <a:p>
            <a:pPr algn="l">
              <a:lnSpc>
                <a:spcPts val="2575"/>
              </a:lnSpc>
            </a:pPr>
            <a:r>
              <a:rPr lang="en-US" sz="1609" spc="15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Transformer les avis clients en insights exploitable.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1178" y="1922348"/>
            <a:ext cx="6125046" cy="118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Objectifs</a:t>
            </a: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la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plateforme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846871" y="9444641"/>
            <a:ext cx="2130655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F44FEB2-2BA7-4CBA-4673-7EB804AD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2019837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002250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C9CC8CE2-3912-9258-C087-FB519CBAA2A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6016B34B-03F4-1DAB-3340-B2FB87670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CF1C9DD-47ED-6766-69B0-15E171B0A7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22" name="Group 10">
            <a:extLst>
              <a:ext uri="{FF2B5EF4-FFF2-40B4-BE49-F238E27FC236}">
                <a16:creationId xmlns:a16="http://schemas.microsoft.com/office/drawing/2014/main" id="{685F3FE4-73B2-CB97-F951-71F7DE467148}"/>
              </a:ext>
            </a:extLst>
          </p:cNvPr>
          <p:cNvGrpSpPr/>
          <p:nvPr/>
        </p:nvGrpSpPr>
        <p:grpSpPr>
          <a:xfrm>
            <a:off x="-13252" y="-23143"/>
            <a:ext cx="6768300" cy="1312616"/>
            <a:chOff x="0" y="0"/>
            <a:chExt cx="1782597" cy="345710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972CCF1-9336-9D1E-7793-95D0BF072E35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1B7EB79A-B642-D58B-8F2E-F7ACEF2EFA16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2943D481-AE52-D2D7-D3E5-558A4AAFA16F}"/>
              </a:ext>
            </a:extLst>
          </p:cNvPr>
          <p:cNvSpPr txBox="1"/>
          <p:nvPr/>
        </p:nvSpPr>
        <p:spPr>
          <a:xfrm>
            <a:off x="10033476" y="3126194"/>
            <a:ext cx="87265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Déployer une architecture Data fiable et modulaire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Industrialiser le traitement des avis par 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Offrir une visibilité analytique (</a:t>
            </a:r>
            <a:r>
              <a:rPr lang="fr-FR" dirty="0" err="1"/>
              <a:t>Snowflake</a:t>
            </a:r>
            <a:r>
              <a:rPr lang="fr-FR" dirty="0"/>
              <a:t>) et opérationnelle (MongoDB)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Respecter les exigences de sécurité et de conformité (RGPD)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1178" y="1922348"/>
            <a:ext cx="8075625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technique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globale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368840" y="3843802"/>
            <a:ext cx="10408799" cy="2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endParaRPr lang="en-US" sz="1609" spc="15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Google Shape;56;p13">
            <a:extLst>
              <a:ext uri="{FF2B5EF4-FFF2-40B4-BE49-F238E27FC236}">
                <a16:creationId xmlns:a16="http://schemas.microsoft.com/office/drawing/2014/main" id="{75D0C101-D82F-6332-3CD0-58982AF4F7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2E8F8010-4A2F-0A7B-9A38-BB98C0552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790553F-B2B7-01A1-9454-644BD7DED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8A0F5DDF-962C-B089-A4F1-270754096FAB}"/>
              </a:ext>
            </a:extLst>
          </p:cNvPr>
          <p:cNvSpPr txBox="1"/>
          <p:nvPr/>
        </p:nvSpPr>
        <p:spPr>
          <a:xfrm>
            <a:off x="1545444" y="3310402"/>
            <a:ext cx="1148475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1. 🗃️ Source de données (Docker PostgreSQL)</a:t>
            </a:r>
          </a:p>
          <a:p>
            <a:r>
              <a:rPr lang="fr-FR" dirty="0"/>
              <a:t>    ⬇️</a:t>
            </a:r>
          </a:p>
          <a:p>
            <a:r>
              <a:rPr lang="fr-FR" dirty="0"/>
              <a:t>2. ⚙️ Orchestration (</a:t>
            </a:r>
            <a:r>
              <a:rPr lang="fr-FR" dirty="0" err="1"/>
              <a:t>Airflow</a:t>
            </a:r>
            <a:r>
              <a:rPr lang="fr-FR" dirty="0"/>
              <a:t> DAG)</a:t>
            </a:r>
          </a:p>
          <a:p>
            <a:r>
              <a:rPr lang="fr-FR" dirty="0"/>
              <a:t>    ⬇️</a:t>
            </a:r>
          </a:p>
          <a:p>
            <a:r>
              <a:rPr lang="fr-FR" dirty="0"/>
              <a:t>3. ☁️ Data Lake (Amazon S3)</a:t>
            </a:r>
          </a:p>
          <a:p>
            <a:r>
              <a:rPr lang="fr-FR" dirty="0"/>
              <a:t>   - </a:t>
            </a:r>
            <a:r>
              <a:rPr lang="fr-FR" dirty="0" err="1"/>
              <a:t>raw</a:t>
            </a:r>
            <a:r>
              <a:rPr lang="fr-FR" dirty="0"/>
              <a:t>/</a:t>
            </a:r>
          </a:p>
          <a:p>
            <a:r>
              <a:rPr lang="fr-FR" dirty="0"/>
              <a:t>   - </a:t>
            </a:r>
            <a:r>
              <a:rPr lang="fr-FR" dirty="0" err="1"/>
              <a:t>processed</a:t>
            </a:r>
            <a:r>
              <a:rPr lang="fr-FR" dirty="0"/>
              <a:t>/</a:t>
            </a:r>
          </a:p>
          <a:p>
            <a:r>
              <a:rPr lang="fr-FR" dirty="0"/>
              <a:t>   - </a:t>
            </a:r>
            <a:r>
              <a:rPr lang="fr-FR" dirty="0" err="1"/>
              <a:t>curated</a:t>
            </a:r>
            <a:r>
              <a:rPr lang="fr-FR" dirty="0"/>
              <a:t>/</a:t>
            </a:r>
          </a:p>
          <a:p>
            <a:r>
              <a:rPr lang="fr-FR" dirty="0"/>
              <a:t>    ⬇️</a:t>
            </a:r>
          </a:p>
          <a:p>
            <a:r>
              <a:rPr lang="fr-FR" dirty="0"/>
              <a:t>4. 🧠 Traitement NLP (anonymisation + enrichissement)</a:t>
            </a:r>
          </a:p>
          <a:p>
            <a:r>
              <a:rPr lang="fr-FR" dirty="0"/>
              <a:t>    ⬇️</a:t>
            </a:r>
          </a:p>
          <a:p>
            <a:r>
              <a:rPr lang="fr-FR" dirty="0"/>
              <a:t>5. 📊 Analytics (</a:t>
            </a:r>
            <a:r>
              <a:rPr lang="fr-FR" dirty="0" err="1"/>
              <a:t>Snowflake</a:t>
            </a:r>
            <a:r>
              <a:rPr lang="fr-FR" dirty="0"/>
              <a:t>)</a:t>
            </a:r>
          </a:p>
          <a:p>
            <a:r>
              <a:rPr lang="fr-FR" dirty="0"/>
              <a:t>   - Vues analytiques</a:t>
            </a:r>
          </a:p>
          <a:p>
            <a:r>
              <a:rPr lang="fr-FR" dirty="0"/>
              <a:t>   - Indicateurs qualité</a:t>
            </a:r>
          </a:p>
          <a:p>
            <a:r>
              <a:rPr lang="fr-FR" dirty="0"/>
              <a:t>   - </a:t>
            </a:r>
            <a:r>
              <a:rPr lang="fr-FR" dirty="0" err="1"/>
              <a:t>Reporting</a:t>
            </a:r>
            <a:r>
              <a:rPr lang="fr-FR" dirty="0"/>
              <a:t> métier</a:t>
            </a:r>
          </a:p>
          <a:p>
            <a:r>
              <a:rPr lang="fr-FR" dirty="0"/>
              <a:t>    ⬇️</a:t>
            </a:r>
          </a:p>
          <a:p>
            <a:r>
              <a:rPr lang="fr-FR" dirty="0"/>
              <a:t>6. ⚡ Temps réel (MongoDB)</a:t>
            </a:r>
          </a:p>
          <a:p>
            <a:r>
              <a:rPr lang="fr-FR" dirty="0"/>
              <a:t>   - Consultation rapide</a:t>
            </a:r>
          </a:p>
          <a:p>
            <a:r>
              <a:rPr lang="fr-FR" dirty="0"/>
              <a:t>   - </a:t>
            </a:r>
            <a:r>
              <a:rPr lang="fr-FR" dirty="0" err="1"/>
              <a:t>Front-end</a:t>
            </a:r>
            <a:r>
              <a:rPr lang="fr-FR" dirty="0"/>
              <a:t>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38488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561197" y="4229100"/>
            <a:ext cx="3034633" cy="3191297"/>
          </a:xfrm>
          <a:custGeom>
            <a:avLst/>
            <a:gdLst/>
            <a:ahLst/>
            <a:cxnLst/>
            <a:rect l="l" t="t" r="r" b="b"/>
            <a:pathLst>
              <a:path w="3034633" h="3191297">
                <a:moveTo>
                  <a:pt x="0" y="0"/>
                </a:moveTo>
                <a:lnTo>
                  <a:pt x="3034633" y="0"/>
                </a:lnTo>
                <a:lnTo>
                  <a:pt x="3034633" y="3191297"/>
                </a:lnTo>
                <a:lnTo>
                  <a:pt x="0" y="319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956689"/>
            <a:ext cx="516045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Pipeline Airflow</a:t>
            </a: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32198DF1-C101-B292-AA2D-24801C9BED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15E12FAD-A3B2-D848-F0B6-21C9D2CA9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0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E740AC1-2A89-836F-086A-25EBB306E2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grpSp>
        <p:nvGrpSpPr>
          <p:cNvPr id="19" name="Group 10">
            <a:extLst>
              <a:ext uri="{FF2B5EF4-FFF2-40B4-BE49-F238E27FC236}">
                <a16:creationId xmlns:a16="http://schemas.microsoft.com/office/drawing/2014/main" id="{AADFCEBB-7BEC-C75C-EBC7-96DBF0768DBB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0B06F47-0867-FF20-9EC4-51B8E7BEFA36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8FE3D2C5-A766-06C0-DF47-40D270AA5BEF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8B36A608-0967-3EA3-C6B5-1455DFC24FCC}"/>
              </a:ext>
            </a:extLst>
          </p:cNvPr>
          <p:cNvSpPr txBox="1"/>
          <p:nvPr/>
        </p:nvSpPr>
        <p:spPr>
          <a:xfrm>
            <a:off x="1219200" y="4152900"/>
            <a:ext cx="9144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Orchestration du pipeline </a:t>
            </a:r>
            <a:r>
              <a:rPr lang="fr-FR" sz="2800" dirty="0" err="1">
                <a:solidFill>
                  <a:schemeClr val="tx2"/>
                </a:solidFill>
              </a:rPr>
              <a:t>Airflow</a:t>
            </a:r>
            <a:endParaRPr lang="fr-FR" sz="2800" dirty="0">
              <a:solidFill>
                <a:schemeClr val="tx2"/>
              </a:solidFill>
            </a:endParaRP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Extraction des données depuis PostgreSQL</a:t>
            </a:r>
          </a:p>
          <a:p>
            <a:pPr>
              <a:buFont typeface="+mj-lt"/>
              <a:buAutoNum type="arabicPeriod"/>
            </a:pPr>
            <a:r>
              <a:rPr lang="fr-FR" dirty="0"/>
              <a:t>Dépôt brut dans S3 (RAW)</a:t>
            </a:r>
          </a:p>
          <a:p>
            <a:pPr>
              <a:buFont typeface="+mj-lt"/>
              <a:buAutoNum type="arabicPeriod"/>
            </a:pPr>
            <a:r>
              <a:rPr lang="fr-FR" dirty="0"/>
              <a:t>Anonymisation des données sensibles</a:t>
            </a:r>
          </a:p>
          <a:p>
            <a:pPr>
              <a:buFont typeface="+mj-lt"/>
              <a:buAutoNum type="arabicPeriod"/>
            </a:pPr>
            <a:r>
              <a:rPr lang="fr-FR" dirty="0"/>
              <a:t>Enrichissement NLP (sentiment, catégories)</a:t>
            </a:r>
          </a:p>
          <a:p>
            <a:pPr>
              <a:buFont typeface="+mj-lt"/>
              <a:buAutoNum type="arabicPeriod"/>
            </a:pPr>
            <a:r>
              <a:rPr lang="fr-FR" dirty="0"/>
              <a:t>Chargement dans </a:t>
            </a:r>
            <a:r>
              <a:rPr lang="fr-FR" dirty="0" err="1"/>
              <a:t>Snowflake</a:t>
            </a:r>
            <a:r>
              <a:rPr lang="fr-FR" dirty="0"/>
              <a:t> (</a:t>
            </a:r>
            <a:r>
              <a:rPr lang="fr-FR" dirty="0" err="1"/>
              <a:t>analytics</a:t>
            </a:r>
            <a:r>
              <a:rPr lang="fr-FR" dirty="0"/>
              <a:t>)</a:t>
            </a:r>
          </a:p>
          <a:p>
            <a:pPr>
              <a:buFont typeface="+mj-lt"/>
              <a:buAutoNum type="arabicPeriod"/>
            </a:pPr>
            <a:r>
              <a:rPr lang="fr-FR" dirty="0"/>
              <a:t>Insertion dans MongoDB (consultation temps réel)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39753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1178" y="1903298"/>
            <a:ext cx="5254579" cy="118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601"/>
              </a:lnSpc>
            </a:pP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Résultats</a:t>
            </a: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&amp; mise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</a:t>
            </a: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Google Shape;56;p13">
            <a:extLst>
              <a:ext uri="{FF2B5EF4-FFF2-40B4-BE49-F238E27FC236}">
                <a16:creationId xmlns:a16="http://schemas.microsoft.com/office/drawing/2014/main" id="{E3485922-AD38-102B-08CC-0FFCF48574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A6D49A1-4A59-3C18-7205-3D9DF8D3C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9D87393-21FA-CDAC-9D7A-95A84225D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74155C2-9668-991D-1A31-5DABE7B2332C}"/>
              </a:ext>
            </a:extLst>
          </p:cNvPr>
          <p:cNvSpPr txBox="1"/>
          <p:nvPr/>
        </p:nvSpPr>
        <p:spPr>
          <a:xfrm>
            <a:off x="609600" y="4053294"/>
            <a:ext cx="17373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400" dirty="0">
                <a:solidFill>
                  <a:schemeClr val="tx2"/>
                </a:solidFill>
              </a:rPr>
              <a:t>Performances &amp; mise en production</a:t>
            </a:r>
          </a:p>
          <a:p>
            <a:pPr algn="ctr">
              <a:buNone/>
            </a:pPr>
            <a:endParaRPr lang="fr-FR" sz="2400" dirty="0">
              <a:solidFill>
                <a:schemeClr val="tx2"/>
              </a:solidFill>
            </a:endParaRPr>
          </a:p>
          <a:p>
            <a:pPr algn="ctr">
              <a:buNone/>
            </a:pPr>
            <a:endParaRPr lang="fr-FR" sz="24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Pipeline complet exécuté en moins de 50 secondes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Monitoring &amp; </a:t>
            </a:r>
            <a:r>
              <a:rPr lang="fr-FR" dirty="0" err="1"/>
              <a:t>alerting</a:t>
            </a:r>
            <a:r>
              <a:rPr lang="fr-FR" dirty="0"/>
              <a:t> opérationnel via </a:t>
            </a:r>
            <a:r>
              <a:rPr lang="fr-FR" dirty="0" err="1"/>
              <a:t>Airflow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Résilience testée (coupure réseau, incident </a:t>
            </a:r>
            <a:r>
              <a:rPr lang="fr-FR" dirty="0" err="1"/>
              <a:t>Snowflake</a:t>
            </a:r>
            <a:r>
              <a:rPr lang="fr-FR" dirty="0"/>
              <a:t>, etc.)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validé par checklist technique et sécurité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Architecture prête à l’échelle : scalable, modulaire, versionnée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3220245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9525"/>
            <a:ext cx="7739556" cy="1312616"/>
            <a:chOff x="0" y="0"/>
            <a:chExt cx="2038402" cy="3457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8402" cy="345710"/>
            </a:xfrm>
            <a:custGeom>
              <a:avLst/>
              <a:gdLst/>
              <a:ahLst/>
              <a:cxnLst/>
              <a:rect l="l" t="t" r="r" b="b"/>
              <a:pathLst>
                <a:path w="2038402" h="345710">
                  <a:moveTo>
                    <a:pt x="0" y="0"/>
                  </a:moveTo>
                  <a:lnTo>
                    <a:pt x="2038402" y="0"/>
                  </a:lnTo>
                  <a:lnTo>
                    <a:pt x="2038402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8402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1178" y="1881539"/>
            <a:ext cx="6611314" cy="67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20"/>
              </a:lnSpc>
            </a:pPr>
            <a:r>
              <a:rPr lang="en-US" sz="4423" b="1" spc="-88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 </a:t>
            </a:r>
            <a:r>
              <a:rPr lang="en-US" sz="4423" b="1" spc="-88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utilisateur</a:t>
            </a:r>
            <a:endParaRPr lang="en-US" sz="4423" b="1" spc="-88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D8967E8-3623-FDD1-2795-441CE0AC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941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4150B83-4207-B1B5-3B32-26FF4D575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304791"/>
            <a:ext cx="2743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5E697800-D186-EDA2-DF66-EE0A06DCE9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DD159150-EBA2-34EE-6054-9CD762F2A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277FDDE-2F68-D5C9-F5E3-4330FD417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83B13EB-7E06-5636-D5BB-417F97FAF83E}"/>
              </a:ext>
            </a:extLst>
          </p:cNvPr>
          <p:cNvSpPr txBox="1"/>
          <p:nvPr/>
        </p:nvSpPr>
        <p:spPr>
          <a:xfrm>
            <a:off x="457200" y="4225224"/>
            <a:ext cx="165354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Support et documentation utilisateur</a:t>
            </a:r>
          </a:p>
          <a:p>
            <a:pPr algn="ctr"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Guide complet pour </a:t>
            </a:r>
            <a:r>
              <a:rPr lang="fr-FR" dirty="0" err="1"/>
              <a:t>Airflow</a:t>
            </a:r>
            <a:r>
              <a:rPr lang="fr-FR" dirty="0"/>
              <a:t>, </a:t>
            </a:r>
            <a:r>
              <a:rPr lang="fr-FR" dirty="0" err="1"/>
              <a:t>Snowflake</a:t>
            </a:r>
            <a:r>
              <a:rPr lang="fr-FR" dirty="0"/>
              <a:t>, MongoDB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Procédures d’accès, surveillance et gestion des incidents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Escalade N1 / N2 / N3 clairement définie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Documentation claire pour profils non techniques et experts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26632" y="4599269"/>
            <a:ext cx="4050894" cy="3152332"/>
          </a:xfrm>
          <a:custGeom>
            <a:avLst/>
            <a:gdLst/>
            <a:ahLst/>
            <a:cxnLst/>
            <a:rect l="l" t="t" r="r" b="b"/>
            <a:pathLst>
              <a:path w="4050894" h="3152332">
                <a:moveTo>
                  <a:pt x="0" y="0"/>
                </a:moveTo>
                <a:lnTo>
                  <a:pt x="4050894" y="0"/>
                </a:lnTo>
                <a:lnTo>
                  <a:pt x="4050894" y="3152332"/>
                </a:lnTo>
                <a:lnTo>
                  <a:pt x="0" y="315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Maintenance du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système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4C111CF3-57D4-D1D1-042F-FF88FA3D3F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 17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F6280F41-D0D7-AF16-62B0-2DF56E449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6068"/>
            <a:ext cx="3966498" cy="13589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77FF2FD-CD8D-4315-0A18-63CC52830C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5E17EADC-07A6-73BD-DD24-41C69E0AC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72399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B18190F-5182-419C-0424-1863F4B7E748}"/>
              </a:ext>
            </a:extLst>
          </p:cNvPr>
          <p:cNvSpPr txBox="1"/>
          <p:nvPr/>
        </p:nvSpPr>
        <p:spPr>
          <a:xfrm>
            <a:off x="1219200" y="4330292"/>
            <a:ext cx="1249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Maintenance : corrective, préventive, évolutive</a:t>
            </a:r>
          </a:p>
          <a:p>
            <a:pPr algn="ctr"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fr-FR" sz="2800" dirty="0">
                <a:solidFill>
                  <a:schemeClr val="tx2"/>
                </a:solidFill>
              </a:rPr>
              <a:t>🛠️ </a:t>
            </a:r>
            <a:r>
              <a:rPr lang="fr-FR" sz="2800" b="1" dirty="0">
                <a:solidFill>
                  <a:schemeClr val="tx2"/>
                </a:solidFill>
              </a:rPr>
              <a:t>Corrective</a:t>
            </a:r>
            <a:r>
              <a:rPr lang="fr-FR" sz="2800" dirty="0">
                <a:solidFill>
                  <a:schemeClr val="tx2"/>
                </a:solidFill>
              </a:rPr>
              <a:t> : résolution rapide des incidents (</a:t>
            </a:r>
            <a:r>
              <a:rPr lang="fr-FR" sz="2800" dirty="0" err="1">
                <a:solidFill>
                  <a:schemeClr val="tx2"/>
                </a:solidFill>
              </a:rPr>
              <a:t>Airflow</a:t>
            </a:r>
            <a:r>
              <a:rPr lang="fr-FR" sz="2800" dirty="0">
                <a:solidFill>
                  <a:schemeClr val="tx2"/>
                </a:solidFill>
              </a:rPr>
              <a:t>, </a:t>
            </a:r>
            <a:r>
              <a:rPr lang="fr-FR" sz="2800" dirty="0" err="1">
                <a:solidFill>
                  <a:schemeClr val="tx2"/>
                </a:solidFill>
              </a:rPr>
              <a:t>Snowflake</a:t>
            </a:r>
            <a:r>
              <a:rPr lang="fr-FR" sz="2800" dirty="0">
                <a:solidFill>
                  <a:schemeClr val="tx2"/>
                </a:solidFill>
              </a:rPr>
              <a:t>, etc.)</a:t>
            </a:r>
          </a:p>
          <a:p>
            <a:pPr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fr-FR" sz="2800" dirty="0">
                <a:solidFill>
                  <a:schemeClr val="tx2"/>
                </a:solidFill>
              </a:rPr>
              <a:t>🔍 </a:t>
            </a:r>
            <a:r>
              <a:rPr lang="fr-FR" sz="2800" b="1" dirty="0">
                <a:solidFill>
                  <a:schemeClr val="tx2"/>
                </a:solidFill>
              </a:rPr>
              <a:t>Préventive</a:t>
            </a:r>
            <a:r>
              <a:rPr lang="fr-FR" sz="2800" dirty="0">
                <a:solidFill>
                  <a:schemeClr val="tx2"/>
                </a:solidFill>
              </a:rPr>
              <a:t> : vérification des logs, rotation des secrets, surveillance performance</a:t>
            </a:r>
          </a:p>
          <a:p>
            <a:pPr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fr-FR" sz="2800" dirty="0">
                <a:solidFill>
                  <a:schemeClr val="tx2"/>
                </a:solidFill>
              </a:rPr>
              <a:t>🚀 </a:t>
            </a:r>
            <a:r>
              <a:rPr lang="fr-FR" sz="2800" b="1" dirty="0">
                <a:solidFill>
                  <a:schemeClr val="tx2"/>
                </a:solidFill>
              </a:rPr>
              <a:t>Évolutive</a:t>
            </a:r>
            <a:r>
              <a:rPr lang="fr-FR" sz="2800" dirty="0">
                <a:solidFill>
                  <a:schemeClr val="tx2"/>
                </a:solidFill>
              </a:rPr>
              <a:t> : ajout de vues analytiques, </a:t>
            </a:r>
            <a:r>
              <a:rPr lang="fr-FR" sz="2800" dirty="0" err="1">
                <a:solidFill>
                  <a:schemeClr val="tx2"/>
                </a:solidFill>
              </a:rPr>
              <a:t>scoring</a:t>
            </a:r>
            <a:r>
              <a:rPr lang="fr-FR" sz="2800" dirty="0">
                <a:solidFill>
                  <a:schemeClr val="tx2"/>
                </a:solidFill>
              </a:rPr>
              <a:t> avancé, ouverture vers d’autres plateformes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1903298"/>
            <a:ext cx="652490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Sécurité</a:t>
            </a: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&amp; RGPD</a:t>
            </a:r>
          </a:p>
        </p:txBody>
      </p:sp>
      <p:pic>
        <p:nvPicPr>
          <p:cNvPr id="16" name="Google Shape;56;p13">
            <a:extLst>
              <a:ext uri="{FF2B5EF4-FFF2-40B4-BE49-F238E27FC236}">
                <a16:creationId xmlns:a16="http://schemas.microsoft.com/office/drawing/2014/main" id="{670A7B8C-A690-3E71-1FE8-3581BC99C94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54201" y="19550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FEC591B-26A3-E753-63E4-D752DBFE2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01" y="14292"/>
            <a:ext cx="3966498" cy="13589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D2D09F2-5F22-D898-52AC-B37D94D94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4B6931D7-3B2F-10EC-0071-F0804FEF98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25200" y="23394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5C8133FD-E186-D6AB-16D6-CD0A60FF7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8136"/>
            <a:ext cx="3966498" cy="135895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C9F102F-0F19-AECC-DF05-B620BDB3D5F6}"/>
              </a:ext>
            </a:extLst>
          </p:cNvPr>
          <p:cNvSpPr txBox="1"/>
          <p:nvPr/>
        </p:nvSpPr>
        <p:spPr>
          <a:xfrm>
            <a:off x="1447800" y="4229100"/>
            <a:ext cx="156972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Sécurité des données &amp; conformité RGPD</a:t>
            </a:r>
          </a:p>
          <a:p>
            <a:pPr algn="ctr"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Anonymisation des données sensibles par hash salé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Rotation des secrets / accès RBAC strict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Suppression automatique des logs sensibles après 30 jours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Processus complet de “droit à l’oubli” déployé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Gestion des </a:t>
            </a:r>
            <a:r>
              <a:rPr lang="en-US" sz="3899" b="1" spc="-77" dirty="0" err="1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risqueses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01A1EC9-67DA-2F80-CA16-301D5A37E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8" name="Google Shape;56;p13">
            <a:extLst>
              <a:ext uri="{FF2B5EF4-FFF2-40B4-BE49-F238E27FC236}">
                <a16:creationId xmlns:a16="http://schemas.microsoft.com/office/drawing/2014/main" id="{32FDB877-71AD-44BB-EC92-345731E83A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446945A4-6CE7-8A32-A7EC-5D014AA3B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A938570-AE64-75E9-D485-ACCAC0B104CC}"/>
              </a:ext>
            </a:extLst>
          </p:cNvPr>
          <p:cNvSpPr txBox="1"/>
          <p:nvPr/>
        </p:nvSpPr>
        <p:spPr>
          <a:xfrm>
            <a:off x="1600200" y="4053294"/>
            <a:ext cx="149352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Risques identifiés &amp; stratégie de résilience</a:t>
            </a:r>
          </a:p>
          <a:p>
            <a:pPr algn="ctr"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Pannes </a:t>
            </a:r>
            <a:r>
              <a:rPr lang="fr-FR" dirty="0" err="1"/>
              <a:t>Airflow</a:t>
            </a:r>
            <a:r>
              <a:rPr lang="fr-FR" dirty="0"/>
              <a:t> → retries + supervision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Schémas invalides → validation automatique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Problèmes S3 ou </a:t>
            </a:r>
            <a:r>
              <a:rPr lang="fr-FR" dirty="0" err="1"/>
              <a:t>Snowflake</a:t>
            </a:r>
            <a:r>
              <a:rPr lang="fr-FR" dirty="0"/>
              <a:t> → </a:t>
            </a:r>
            <a:r>
              <a:rPr lang="fr-FR" dirty="0" err="1"/>
              <a:t>backfill</a:t>
            </a:r>
            <a:r>
              <a:rPr lang="fr-FR" dirty="0"/>
              <a:t> / versioning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Risques RGPD → anonymisation systématique + logs épurés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Dépendance clé → documentation et transfert de compétences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B08E99-ADDA-D367-1ED0-D8FDBDE9AEA2}"/>
              </a:ext>
            </a:extLst>
          </p:cNvPr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10F4A5-2C23-2D5B-3D7A-131CC48EF0D1}"/>
                </a:ext>
              </a:extLst>
            </p:cNvPr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5A2D20C-42FD-1B0B-85FA-6B0FF1A3701D}"/>
                </a:ext>
              </a:extLst>
            </p:cNvPr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6">
            <a:extLst>
              <a:ext uri="{FF2B5EF4-FFF2-40B4-BE49-F238E27FC236}">
                <a16:creationId xmlns:a16="http://schemas.microsoft.com/office/drawing/2014/main" id="{809878D5-0A2A-9FEC-BCB1-9AB62880031A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5E53D64-72FF-20D8-DD3B-6528B067F29D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1B5B1340-353B-0C08-1F91-24B71EA19BCB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7E901569-79F8-26A1-9B7E-C7554F977E72}"/>
              </a:ext>
            </a:extLst>
          </p:cNvPr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E9467173-F6AD-F809-0DB0-D6B4A353CF8B}"/>
              </a:ext>
            </a:extLst>
          </p:cNvPr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Perspectives &amp; évolutions</a:t>
            </a:r>
            <a:endParaRPr lang="en-US" sz="3899" b="1" spc="-77" dirty="0">
              <a:solidFill>
                <a:srgbClr val="0022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0" name="Image 9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F3663E7-5F17-E198-B39F-DA9C2C4A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1" name="Google Shape;56;p13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22377B84-A5C8-B1C2-18D2-5BD5086E67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2FADA7C1-C4B0-0335-25BF-4A87ADDA2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2554D3D-FA44-F011-6BC2-9C78910043CD}"/>
              </a:ext>
            </a:extLst>
          </p:cNvPr>
          <p:cNvSpPr txBox="1"/>
          <p:nvPr/>
        </p:nvSpPr>
        <p:spPr>
          <a:xfrm>
            <a:off x="1143000" y="4191793"/>
            <a:ext cx="15240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>
                <a:solidFill>
                  <a:schemeClr val="tx2"/>
                </a:solidFill>
              </a:rPr>
              <a:t>Évolutions futures possibles</a:t>
            </a:r>
          </a:p>
          <a:p>
            <a:pPr algn="ctr">
              <a:buNone/>
            </a:pPr>
            <a:endParaRPr lang="fr-FR" sz="28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Ajout de nouvelles catégories d’analyse NLP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Intégration d’un </a:t>
            </a:r>
            <a:r>
              <a:rPr lang="fr-FR" dirty="0" err="1"/>
              <a:t>scoring</a:t>
            </a:r>
            <a:r>
              <a:rPr lang="fr-FR" dirty="0"/>
              <a:t> automatique de la qualité des avis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avec un </a:t>
            </a:r>
            <a:r>
              <a:rPr lang="fr-FR" dirty="0" err="1"/>
              <a:t>front-end</a:t>
            </a:r>
            <a:r>
              <a:rPr lang="fr-FR" dirty="0"/>
              <a:t> ou </a:t>
            </a:r>
            <a:r>
              <a:rPr lang="fr-FR" dirty="0" err="1"/>
              <a:t>dashboard</a:t>
            </a:r>
            <a:r>
              <a:rPr lang="fr-FR" dirty="0"/>
              <a:t> interactif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Ouverture vers d’autres sources (autres marketplaces)</a:t>
            </a:r>
          </a:p>
        </p:txBody>
      </p:sp>
    </p:spTree>
    <p:extLst>
      <p:ext uri="{BB962C8B-B14F-4D97-AF65-F5344CB8AC3E}">
        <p14:creationId xmlns:p14="http://schemas.microsoft.com/office/powerpoint/2010/main" val="3454916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305512-25EA-DC6C-86CA-5641BF2177E4}"/>
              </a:ext>
            </a:extLst>
          </p:cNvPr>
          <p:cNvGrpSpPr/>
          <p:nvPr/>
        </p:nvGrpSpPr>
        <p:grpSpPr>
          <a:xfrm>
            <a:off x="1871690" y="2708069"/>
            <a:ext cx="915323" cy="80965"/>
            <a:chOff x="0" y="0"/>
            <a:chExt cx="241073" cy="213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D4B385-3E63-A551-9DF4-55D5E4BD95AA}"/>
                </a:ext>
              </a:extLst>
            </p:cNvPr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CD8E8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AFB32F-36E7-5CA9-E67C-53F5E32B8D36}"/>
                </a:ext>
              </a:extLst>
            </p:cNvPr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6">
            <a:extLst>
              <a:ext uri="{FF2B5EF4-FFF2-40B4-BE49-F238E27FC236}">
                <a16:creationId xmlns:a16="http://schemas.microsoft.com/office/drawing/2014/main" id="{B5F50B9C-EEA8-76B3-195C-9BDE9217D02F}"/>
              </a:ext>
            </a:extLst>
          </p:cNvPr>
          <p:cNvGrpSpPr/>
          <p:nvPr/>
        </p:nvGrpSpPr>
        <p:grpSpPr>
          <a:xfrm>
            <a:off x="0" y="0"/>
            <a:ext cx="6768300" cy="1312616"/>
            <a:chOff x="0" y="0"/>
            <a:chExt cx="1782597" cy="345710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89D6790-EF57-1B50-EF38-6984D9EA9949}"/>
                </a:ext>
              </a:extLst>
            </p:cNvPr>
            <p:cNvSpPr/>
            <p:nvPr/>
          </p:nvSpPr>
          <p:spPr>
            <a:xfrm>
              <a:off x="0" y="0"/>
              <a:ext cx="1782597" cy="3457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DDBCB134-6139-D5A2-6BE4-F5297F36851E}"/>
                </a:ext>
              </a:extLst>
            </p:cNvPr>
            <p:cNvSpPr txBox="1"/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4D1F2A19-B083-68E9-AD79-61A3FAE36758}"/>
              </a:ext>
            </a:extLst>
          </p:cNvPr>
          <p:cNvSpPr txBox="1"/>
          <p:nvPr/>
        </p:nvSpPr>
        <p:spPr>
          <a:xfrm>
            <a:off x="13267263" y="9756873"/>
            <a:ext cx="4710263" cy="2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7"/>
              </a:lnSpc>
            </a:pPr>
            <a:r>
              <a:rPr lang="en-US" sz="1309" b="1" spc="12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530426D4-5DC1-4FDE-2C84-11655397008E}"/>
              </a:ext>
            </a:extLst>
          </p:cNvPr>
          <p:cNvSpPr txBox="1"/>
          <p:nvPr/>
        </p:nvSpPr>
        <p:spPr>
          <a:xfrm>
            <a:off x="1871690" y="1903298"/>
            <a:ext cx="7232822" cy="59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 dirty="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pic>
        <p:nvPicPr>
          <p:cNvPr id="10" name="Image 9" descr="Une image contenant logo, Polic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507F49E4-B224-9CDC-17D8-0A8D6824E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056" y="10516"/>
            <a:ext cx="3352800" cy="1302100"/>
          </a:xfrm>
          <a:prstGeom prst="rect">
            <a:avLst/>
          </a:prstGeom>
        </p:spPr>
      </p:pic>
      <p:pic>
        <p:nvPicPr>
          <p:cNvPr id="11" name="Google Shape;56;p13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B3A8B65C-84B7-DA99-5554-9E4C699F62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4318" y="-8577"/>
            <a:ext cx="3242553" cy="13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 descr="Une image contenant logo, Police, symbole, Graphique&#10;&#10;Le contenu généré par l’IA peut être incorrect.">
            <a:extLst>
              <a:ext uri="{FF2B5EF4-FFF2-40B4-BE49-F238E27FC236}">
                <a16:creationId xmlns:a16="http://schemas.microsoft.com/office/drawing/2014/main" id="{94F22A96-11AE-7E30-9B29-19141C527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820" y="33537"/>
            <a:ext cx="3966498" cy="135895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FF8640C-2783-36D4-8FC2-15E77B19CB93}"/>
              </a:ext>
            </a:extLst>
          </p:cNvPr>
          <p:cNvSpPr txBox="1"/>
          <p:nvPr/>
        </p:nvSpPr>
        <p:spPr>
          <a:xfrm>
            <a:off x="1143000" y="4191793"/>
            <a:ext cx="15240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chemeClr val="tx2"/>
                </a:solidFill>
              </a:rPr>
              <a:t>Un pipeline </a:t>
            </a:r>
            <a:r>
              <a:rPr lang="fr-FR" sz="3600" dirty="0" err="1">
                <a:solidFill>
                  <a:schemeClr val="tx2"/>
                </a:solidFill>
              </a:rPr>
              <a:t>DataOps</a:t>
            </a:r>
            <a:r>
              <a:rPr lang="fr-FR" sz="3600" dirty="0">
                <a:solidFill>
                  <a:schemeClr val="tx2"/>
                </a:solidFill>
              </a:rPr>
              <a:t> industrialisé et conforme</a:t>
            </a:r>
          </a:p>
          <a:p>
            <a:pPr algn="ctr"/>
            <a:endParaRPr lang="fr-FR" sz="3600" dirty="0">
              <a:solidFill>
                <a:schemeClr val="tx2"/>
              </a:solidFill>
            </a:endParaRPr>
          </a:p>
          <a:p>
            <a:r>
              <a:rPr lang="fr-FR" sz="2800" dirty="0"/>
              <a:t>Ce projet a permis de construire une plateforme Data industrialisée, sécurisée et conforme aux standards professionnels. Chaque composant est surveillé, documenté et prêt à l’échelle. Ce pipeline constitue une base solide pour une exploitation durable en production — ou une extension vers des usages business avancés.</a:t>
            </a:r>
          </a:p>
        </p:txBody>
      </p:sp>
    </p:spTree>
    <p:extLst>
      <p:ext uri="{BB962C8B-B14F-4D97-AF65-F5344CB8AC3E}">
        <p14:creationId xmlns:p14="http://schemas.microsoft.com/office/powerpoint/2010/main" val="30037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675</Words>
  <Application>Microsoft Office PowerPoint</Application>
  <PresentationFormat>Personnalisé</PresentationFormat>
  <Paragraphs>147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Inter SemiBold</vt:lpstr>
      <vt:lpstr>Arial</vt:lpstr>
      <vt:lpstr>Gotham</vt:lpstr>
      <vt:lpstr>Gotham Bold</vt:lpstr>
      <vt:lpstr>League Spartan</vt:lpstr>
      <vt:lpstr>Calibri</vt:lpstr>
      <vt:lpstr>Aptos</vt:lpstr>
      <vt:lpstr>Office Theme</vt:lpstr>
      <vt:lpstr>Amazon Reviews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Reviews : Détection et catégorisation intelligente des avis clients</dc:title>
  <dc:creator>ismael sylla</dc:creator>
  <cp:lastModifiedBy>ismael sylla</cp:lastModifiedBy>
  <cp:revision>3</cp:revision>
  <dcterms:created xsi:type="dcterms:W3CDTF">2006-08-16T00:00:00Z</dcterms:created>
  <dcterms:modified xsi:type="dcterms:W3CDTF">2025-12-08T08:46:18Z</dcterms:modified>
  <dc:identifier>DAG3cwB6bCo</dc:identifier>
</cp:coreProperties>
</file>