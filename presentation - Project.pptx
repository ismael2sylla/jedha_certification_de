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</p:sldMasterIdLst>
  <p:notesMasterIdLst>
    <p:notesMasterId r:id="rId74"/>
  </p:notesMasterIdLst>
  <p:sldIdLst>
    <p:sldId id="256" r:id="rId2"/>
    <p:sldId id="335" r:id="rId3"/>
    <p:sldId id="336" r:id="rId4"/>
    <p:sldId id="258" r:id="rId5"/>
    <p:sldId id="264" r:id="rId6"/>
    <p:sldId id="270" r:id="rId7"/>
    <p:sldId id="284" r:id="rId8"/>
    <p:sldId id="283" r:id="rId9"/>
    <p:sldId id="338" r:id="rId10"/>
    <p:sldId id="272" r:id="rId11"/>
    <p:sldId id="282" r:id="rId12"/>
    <p:sldId id="286" r:id="rId13"/>
    <p:sldId id="287" r:id="rId14"/>
    <p:sldId id="281" r:id="rId15"/>
    <p:sldId id="273" r:id="rId16"/>
    <p:sldId id="274" r:id="rId17"/>
    <p:sldId id="277" r:id="rId18"/>
    <p:sldId id="290" r:id="rId19"/>
    <p:sldId id="289" r:id="rId20"/>
    <p:sldId id="275" r:id="rId21"/>
    <p:sldId id="339" r:id="rId22"/>
    <p:sldId id="291" r:id="rId23"/>
    <p:sldId id="276" r:id="rId24"/>
    <p:sldId id="279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340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41" r:id="rId45"/>
    <p:sldId id="310" r:id="rId46"/>
    <p:sldId id="311" r:id="rId47"/>
    <p:sldId id="312" r:id="rId48"/>
    <p:sldId id="313" r:id="rId49"/>
    <p:sldId id="314" r:id="rId50"/>
    <p:sldId id="315" r:id="rId51"/>
    <p:sldId id="316" r:id="rId52"/>
    <p:sldId id="317" r:id="rId53"/>
    <p:sldId id="318" r:id="rId54"/>
    <p:sldId id="323" r:id="rId55"/>
    <p:sldId id="324" r:id="rId56"/>
    <p:sldId id="342" r:id="rId57"/>
    <p:sldId id="319" r:id="rId58"/>
    <p:sldId id="320" r:id="rId59"/>
    <p:sldId id="321" r:id="rId60"/>
    <p:sldId id="322" r:id="rId61"/>
    <p:sldId id="326" r:id="rId62"/>
    <p:sldId id="327" r:id="rId63"/>
    <p:sldId id="328" r:id="rId64"/>
    <p:sldId id="325" r:id="rId65"/>
    <p:sldId id="329" r:id="rId66"/>
    <p:sldId id="330" r:id="rId67"/>
    <p:sldId id="343" r:id="rId68"/>
    <p:sldId id="331" r:id="rId69"/>
    <p:sldId id="332" r:id="rId70"/>
    <p:sldId id="333" r:id="rId71"/>
    <p:sldId id="334" r:id="rId72"/>
    <p:sldId id="262" r:id="rId73"/>
  </p:sldIdLst>
  <p:sldSz cx="9144000" cy="5143500" type="screen16x9"/>
  <p:notesSz cx="6858000" cy="9144000"/>
  <p:embeddedFontLst>
    <p:embeddedFont>
      <p:font typeface="Inter" panose="020B0604020202020204" charset="0"/>
      <p:regular r:id="rId75"/>
      <p:bold r:id="rId76"/>
    </p:embeddedFont>
    <p:embeddedFont>
      <p:font typeface="Inter Medium" panose="020B0604020202020204" charset="0"/>
      <p:regular r:id="rId77"/>
      <p:bold r:id="rId7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951" autoAdjust="0"/>
    <p:restoredTop sz="45642" autoAdjust="0"/>
  </p:normalViewPr>
  <p:slideViewPr>
    <p:cSldViewPr snapToGrid="0">
      <p:cViewPr>
        <p:scale>
          <a:sx n="113" d="100"/>
          <a:sy n="113" d="100"/>
        </p:scale>
        <p:origin x="8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Bonjour, je vais vous présenter mon projet final intitulé </a:t>
            </a:r>
            <a:r>
              <a:rPr lang="fr-FR" i="1" dirty="0"/>
              <a:t>Amazon – Analyse des avis produits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Il s’agit d’un projet data complet, que j’ai mené comme un projet professionnel, de l’analyse du besoin jusqu’à la gouvernance et l’exploitation des données.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4F0D41D-D13A-B709-BFCC-91F5A95D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7B3EF371-2F78-4CF5-B06B-C20C0E59E2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2DA1A22-8C7B-B0D6-A5D0-D9AE0D85B0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1325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896467C-50C1-6E9F-0BE6-866A6DAF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8669E8B-4598-8D73-4CCC-584D9BEC1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4BE1CAB-EC6F-980E-1A5C-378AAE899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5150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C34A2CE-2497-F3ED-3404-D5C293336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F6BFA3EA-EBF6-0118-F30E-DE06C2562E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2C745CE-3663-A8B6-DCA0-1BD7ABDAE5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problème n’est pas le manque d’avis, mais leur volume et leur hétérogénéité.</a:t>
            </a:r>
            <a:br>
              <a:rPr lang="fr-FR" dirty="0"/>
            </a:br>
            <a:r>
              <a:rPr lang="fr-FR" dirty="0"/>
              <a:t>Il devient difficile d’identifier rapidement les avis réellement utiles parmi des centaines, voire des milliers de commentaires par produit.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7876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30EC97B-E4C8-6EEC-54A7-4E7F6240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8289B2D-4B36-8610-71AF-9782C1F65C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F457678-E85C-3743-3656-B0C11CCADD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L’objectif du projet est donc d’automatiser l’analyse des avis clients, afin d’identifier les plus pertinents et d’aider les équipes métier à prendre de meilleures décisions.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2486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AD0D633-66D8-CB87-FA86-097AC545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DBC0D69-F17D-B095-2CF4-C4F27A0BD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F6464F7-08BB-4ABD-264F-1B5499DF9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projet s’articule autour de quatre grandes phases :</a:t>
            </a:r>
            <a:br>
              <a:rPr lang="fr-FR" dirty="0"/>
            </a:br>
            <a:r>
              <a:rPr lang="fr-FR" dirty="0"/>
              <a:t>d’abord le cadrage et l’analyse stratégique,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puis le data engineering,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ensuite l’analyse avancée,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et enfin la gouvernance et le pilotage.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620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B3541E8-B6D4-FE22-99EB-8D744A65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7E474FD-4157-25FC-093D-FD9516C470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FD8339D-DBA8-D5A3-DCF1-8B3AEFB27A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 projet est avant tout orienté Data Engineering, avec une forte dimension analytique et une attention particulière portée à la gouvernance et aux contraintes réglementaires.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42326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25CDCE8-228B-8C9D-27A1-3C081EFC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BD681FB-10C8-AE85-B23A-AB1D9B038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D222303-B116-9730-2FC8-538DE0B082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326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D92E67D-74EE-16DB-11C3-83A9EE0C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DC65A041-927B-0E57-0974-C3E964DA38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3C7159C-3E9B-C061-E5CD-828C154673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évolue dans un écosystème très concurrentiel, où la donnée est un levier stratégique.</a:t>
            </a:r>
            <a:br>
              <a:rPr lang="fr-FR" dirty="0"/>
            </a:br>
            <a:r>
              <a:rPr lang="fr-FR" dirty="0"/>
              <a:t>Les avis clients constituent une source d’information précieuse pour améliorer l’expérience utilisateur et la performance produit.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8651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EA0C030-6D5C-9BA1-0C37-16D2D0AE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3B20AA7-88FF-38B2-07D1-36E595E967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5C8275E9-3324-370F-BCB6-DA06FE46DF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Cette analyse stratégique met en évidence que la valorisation des avis clients représente une opportunité forte, mais également un enjeu de maîtrise et de confiance.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4055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8C9AE76-8137-AC38-D15B-E439E9B9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4364E78B-018A-81DD-D46A-A06FBD310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78D982C-289D-EADF-C8C8-1DF30305E0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Plusieurs parties prenantes sont concernées : les clients finaux, les équipes produit, les équipes data et les équipes qualité.</a:t>
            </a:r>
            <a:br>
              <a:rPr lang="fr-FR" dirty="0"/>
            </a:br>
            <a:r>
              <a:rPr lang="fr-FR" dirty="0"/>
              <a:t>La solution doit donc répondre à des besoins variés.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7866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FFBBAE8-4F9C-11EA-A944-E912542F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B196AD3-C2A3-8A3A-CC9E-20194DB2C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207853D-85F4-EDAF-68FE-0EAF7EDECE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 identifier le besoin, j’ai utilisé une approche centrée utilisateur, inspirée du Design </a:t>
            </a:r>
            <a:r>
              <a:rPr lang="fr-FR" dirty="0" err="1"/>
              <a:t>Thinking</a:t>
            </a:r>
            <a:r>
              <a:rPr lang="fr-FR" dirty="0"/>
              <a:t>, afin de partir des usages réels plutôt que d’une solution technique préconçue.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468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1858CE9-B0C2-558F-73E2-F682DB2A4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FAF203E-5A6C-A1B5-3BED-91EB32233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CA17A612-5CFE-1028-A8DF-BB7B51198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</a:t>
            </a:r>
            <a:r>
              <a:rPr lang="fr-FR" dirty="0" err="1"/>
              <a:t>personas</a:t>
            </a:r>
            <a:r>
              <a:rPr lang="fr-FR" dirty="0"/>
              <a:t> m’ont permis de formaliser des besoins concrets, aussi bien côté utilisateur final que côté équipes internes, notamment data et produit.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2070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1A68D15-4755-E0B4-D7A5-6448C4FBA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0133618-2F1C-EE09-9AB2-93C864EED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C744834-CD86-D300-02F4-9D2B25AE87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Plusieurs cas d’usage ont été identifiés, allant de la mise en avant des avis pertinents à l’analyse des tendances de satisfaction produit.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5750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3AD1A29-B926-FE9B-9006-BD20050A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246B76A8-5AD0-9236-8CF0-CB44F0538E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D1622D1F-923B-0456-5859-6B21C58D0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Tous les cas d’usage n’étaient pas réalisables ou prioritaires.</a:t>
            </a:r>
            <a:br>
              <a:rPr lang="fr-FR" dirty="0"/>
            </a:br>
            <a:r>
              <a:rPr lang="fr-FR" dirty="0"/>
              <a:t>J’ai donc retenu celui qui apportait le plus de valeur métier tout en restant techniquement faisable.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0920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B3E2EEC-153F-8219-5DDA-A61D65F5B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784C479B-D89E-89BE-3CCA-8A8D8F187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813A0F9-7A99-D6F5-9A7F-0DADA02A7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Une veille technologique a été menée pour identifier les solutions les plus adaptées, en tenant compte des performances, des coûts et de la scalabilité.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1973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EFF863A-1313-40DE-D5E8-C05A4E601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0035C43-3A3C-4182-CAD8-95DCA55F13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3F1B99D-201F-6AA3-130F-B5727E82C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veille réglementaire a permis d’intégrer dès le départ les contraintes liées au RGPD, au CCPA et aux futures réglementations sur l’IA.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69201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370BA2F-4297-64F5-14D1-C210CD24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FF468930-25C8-56AF-C7C4-4DEFA6A93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97D443E-0358-A25C-7EA3-73BB99DAF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veille a été documentée et partagée afin de favoriser la collaboration et la capitalisation des connaissances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55527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ADA86059-49A8-683D-AA8C-BD5D6FD2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E569F650-9397-00F6-CCE2-DAFE8A675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739AC939-F55A-0095-B946-A86E0A9D34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À l’issue de cette phase, le besoin métier est clairement identifié, les choix sont justifiés et le périmètre du projet est défini.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4552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30FA08F-B4B2-D3C7-04BB-B0AF3722C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FAFAFA9-6C4D-9A56-7889-B9C72A182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CEC184D-8FB6-4FAB-C0D2-FC2665834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78762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52D32A3-8150-55FF-EA62-A4BB81FAF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A95E041-1555-A548-82A4-AA7B5F134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778A2E8-67A7-866B-40DE-A3D38F817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L’architecture a été pensée pour centraliser les données, garantir leur qualité et permettre une exploitation analytique fiable, tout en restant évolutive et gouvernée..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3596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8461B9B-63A8-424E-2607-346598F4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>
            <a:extLst>
              <a:ext uri="{FF2B5EF4-FFF2-40B4-BE49-F238E27FC236}">
                <a16:creationId xmlns:a16="http://schemas.microsoft.com/office/drawing/2014/main" id="{3000516A-F476-70BE-5AA6-64117F509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>
            <a:extLst>
              <a:ext uri="{FF2B5EF4-FFF2-40B4-BE49-F238E27FC236}">
                <a16:creationId xmlns:a16="http://schemas.microsoft.com/office/drawing/2014/main" id="{A70E6C2D-F23F-8AB3-9EE0-679DE68A2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J’ai conçu une architecture de type plateforme data, avec une séparation claire entre les sources, le stockage, les traitements et l’analyse.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39776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4A3DEA2-B394-0C40-49AD-1915891F8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9E17FED-7449-0E63-99A3-1BA965A1CC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0A98F42-E879-F331-ED75-442E064D19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données proviennent principalement d’une base PostgreSQL transactionnelle, qui constitue la source de vérité du projet.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4112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9A8A842-16D9-7E03-1130-9F0DB9DFF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A5DEE385-2539-9752-3A81-84115E5A9C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301B0B7-C5A3-6FC6-0CFA-C6C1DB9D25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Data Lake permet de stocker les données brutes, de conserver l’historique et de découpler les sources des usages analytiques.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2155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067965F-E0A4-91C5-2B93-828ED4E5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1AADA9C-5A37-67DF-093F-85565DC9B6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317A760-E570-5615-901A-74CEF80C8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Cette organisation en trois niveaux permet de sécuriser les transformations tout en garantissant la traçabilité des données.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13230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A6D8A94-1279-623C-4E0F-34C74773E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575CFF9-4715-A2C6-2FC5-C1199C89C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621F560-70E4-64D9-4100-93BF3A1ED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Snowflake</a:t>
            </a:r>
            <a:r>
              <a:rPr lang="fr-FR" dirty="0"/>
              <a:t> joue le rôle de Data Warehouse analytique, optimisé pour les requêtes et la restitution métier.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07357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6E016F0-976D-0250-7CA7-36C9C0F9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B6227CB-EF6C-6CF8-E581-A97DBA796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FB635EF-84EB-C5EB-807E-51B2D4774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données rejetées sont conservées afin de faciliter l’audit, la correction et l’amélioration continue des pipelines.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97571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7C09CFD-9AF0-736B-5C8F-A2D1A59B4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F2EF01E-C6C0-7769-B431-49B531458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19D82A6-F411-BD74-823C-FF2E7EF02E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L’orchestration permet d’automatiser les traitements, de gérer les dépendances et de fiabiliser l’exécution des pipelines.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07011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F3187DC-39B7-15B7-4A4B-302A32754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A2D54064-1E08-9B37-5435-05AA43A1E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D78D638-0239-CEA7-433D-1EAC4B45AD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sécurité et la traçabilité sont intégrées à chaque étape pour garantir la conformité et la confiance dans les données.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57871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1D57C39-B22D-6488-4052-CCBEE35DF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F771A57-23CC-2F1C-DDC7-8EA22A8B5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E75A69F-4100-AAEF-398A-DD8EC6FB05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37451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5CC105C-F2F6-3034-4FA9-428A90F1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C4D06A1-4B9E-D3A8-B94F-87E336935F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67BF9B0E-B2DF-CD34-7571-1EDA4186E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48538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2CA9208-D5F4-140B-A112-BD639CD3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FA367E42-F5B0-4CD3-8E78-6CC9503030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A3CEB132-00C2-600E-844C-66C2F8117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Data Engineering est essentiel pour transformer des données brutes en données fiables, exploitables et prêtes pour l’analyse.</a:t>
            </a:r>
          </a:p>
        </p:txBody>
      </p:sp>
    </p:spTree>
    <p:extLst>
      <p:ext uri="{BB962C8B-B14F-4D97-AF65-F5344CB8AC3E}">
        <p14:creationId xmlns:p14="http://schemas.microsoft.com/office/powerpoint/2010/main" val="37993605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40C78AF-D9CF-8824-0617-2E86075B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D482BA0-126A-D89D-8657-5E6293CDF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9F851B42-EF07-EE6D-3EF6-2742811EF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diversité et la volumétrie des données imposent une automatisation robuste et contrôlée des traitements.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95463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93B53C2-AAF2-FFCE-A9BE-791F589D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E03049D-D61E-CE4F-3B58-D55F09F3C2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4E14102-7F09-215B-5A38-9E7A800C3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L’ingestion est automatisée afin d’assurer des chargements réguliers, reproductibles et traçables.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97343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B472B5D-031D-C610-8EB7-61FBAD36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C0CF635-BFF1-C1EA-34BF-29B809E95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A206AA1-C82A-8BF4-469F-7926CF441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Des contrôles qualité sont appliqués à chaque étape pour garantir la cohérence et la fiabilité des données.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41241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D852A31-CABC-47B4-A9ED-3EFF50DD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A8EF27E-CB76-7901-5853-0401BA180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B6C1D525-6924-3007-F74A-DC40AF22B4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transformations visent à enrichir les données et à les structurer pour répondre aux besoins analytiques.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38185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606880C-A3A6-51E0-ECF9-6D6527C1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458F02D-67C0-D9EE-70F0-A74BF70647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4378B8B-2FE7-ACE6-6DD9-E1AEC74BF9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erreurs sont gérées de manière explicite afin de ne jamais perdre de données et d’améliorer les pipelines.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47930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4DE52AE-3547-0D11-8278-4F70DA0F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9F76AD2-42E4-018C-B259-FB3035F0E4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0031902-CF76-F39B-C9E6-F987B68BB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Airflow</a:t>
            </a:r>
            <a:r>
              <a:rPr lang="fr-FR" dirty="0"/>
              <a:t> permet de visualiser les pipelines, de gérer les dépendances et de sécuriser leur exécution dans le temps.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84257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D0DD0AF-46B9-03DD-E85A-DDD16744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7F2867A-2532-D502-16F9-87EA800D5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9FDEEAA-A9F8-8A8F-352D-FD905B365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données validées sont chargées dans </a:t>
            </a:r>
            <a:r>
              <a:rPr lang="fr-FR" dirty="0" err="1"/>
              <a:t>Snowflake</a:t>
            </a:r>
            <a:r>
              <a:rPr lang="fr-FR" dirty="0"/>
              <a:t> pour permettre l’analyse et la restitution métier.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13019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7A9B740-541C-8584-6AA3-960D2C43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BC7A993-B7B5-99DF-66C5-E2A9F5FDE2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D6A349F-827F-C98A-8221-34F8DA2A6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Des tests sont réalisés pour s’assurer que les données produites correspondent aux attentes fonctionnelles.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29816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3E05FFF-A6FE-C787-CB6D-0B739BF4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FC497FF5-2FEF-DA9C-41FE-3BF3AFE48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DAD647A-0E72-1417-119F-96348A8B2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L’objectif était de concevoir une solution réutilisable et industrialisable, et non un pipeline ponctuel.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87090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FC1CC7B-E089-0A81-1B0D-21878816C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FE527758-0114-5AF4-E551-E7A9B28201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D0ACC50-2E14-E67E-BBA4-73B429B937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Une fois les données fiabilisées, j’ai pu me concentrer sur leur analyse et leur valorisation métier.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652552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471A7EA-7963-1706-FC12-E369675F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7371919-370C-27A5-9F3A-C1AD0B7AD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A92072D-8A62-E110-EF65-D8EB814FD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9105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B78F236-C107-857C-F42C-71F9DC9B1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B40EEAF2-CD8D-B725-5EEF-AEB3962962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7CBD98D-D181-E0E3-30CF-1EE879FE5D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avis textuels contiennent des informations riches qui ne sont pas visibles uniquement à travers les notes.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80407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45D0C25-832E-A8C7-BC67-8761E4EE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9B8ADCDC-606E-6D55-23F6-8F6965BF6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EAE79F6-C8A9-7E79-2F68-4AE4DB2FC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L’objectif est d’identifier les avis utiles et de réduire le bruit informationnel pour les équipes métier.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73875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741E9FBF-EE29-4D89-022D-FA1EA2D37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885C14CA-0D77-36EB-B0DB-61E3DBA761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8729CDC-977D-65E1-D744-A6180DC12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textes sont nettoyés et préparés afin d’obtenir des résultats NLP cohérents et exploitables.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46384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D80D331-0169-ED30-146D-2480B0C02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36046EB7-9092-0209-7DC0-4AFB1D932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FEEC8D3-C59C-018C-8460-D7A86A9D9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</a:t>
            </a:r>
            <a:r>
              <a:rPr lang="fr-FR" dirty="0" err="1"/>
              <a:t>scoring</a:t>
            </a:r>
            <a:r>
              <a:rPr lang="fr-FR" dirty="0"/>
              <a:t> permet de combiner plusieurs critères afin de produire un indicateur de pertinence unique.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705753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F98397C-294B-5717-857D-48554EDE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4E553F92-35CF-18F6-FFFD-77C8EBF6D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A1460BA-EA69-D58A-3E33-B8ABDD3ED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Chaque critère apporte une information complémentaire sur la qualité et l’utilité d’un avis.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2808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E62E71A-C2D3-848A-4034-507203D5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7DFD515E-13AA-A8D6-98D0-D7B87F18B3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6F3E187-0609-EACE-257D-D6CF79829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L’analyse de sentiment permet de compléter la note chiffrée par une lecture plus qualitative.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72613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1D087F1-F09A-3D3A-0E1D-6F0C8FE2C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30FA2DDE-6C1F-C667-B6FA-473CE16935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3C6BC56-085F-1242-853F-0B3061050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</a:t>
            </a:r>
            <a:r>
              <a:rPr lang="fr-FR" dirty="0" err="1"/>
              <a:t>Zero</a:t>
            </a:r>
            <a:r>
              <a:rPr lang="fr-FR" dirty="0"/>
              <a:t>-Shot offre une flexibilité importante pour analyser de nouveaux thèmes sans réentraîner de modèles.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39265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8434887-72BD-900A-2561-E96171384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CCB527F-67BE-B08C-98F8-4A86D0984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A2EFF13B-9707-1196-EA83-20B5D0BF8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résultats montrent une hiérarchisation claire des avis et une meilleure lisibilité pour les équipes.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300716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3FDD0FB-3C77-DC67-49AB-5C1423E23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64083D8-0C12-9D44-91A4-78E46C5EF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DF47DA01-32E9-D4EA-2E8A-35A5F9A8BA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données analysées sont restituées sous forme d’indicateurs clairs et exploitables.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46517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56BCC06-AAE9-F1F1-8D31-DCDE108AD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FD599523-6BB7-B5EA-4E1D-F0F3CDB393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77629EB8-55D1-5716-D131-AA3A52A0C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Comme tout prototype, la solution présente des limites qui ouvrent la voie à des améliorations futures.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3995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51A71FD-E602-19F2-209A-4501420B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22739BF-4962-B081-72A5-7234484702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98B7B236-9442-0F8E-0AA1-751D246AC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/>
              <a:t>Pour que cette solution soit durable, la gouvernance est un élément clé.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48435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4484E38-461F-5388-0F50-312302AB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42B2D69-5CDC-F03B-6970-DB01230B64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E8A1781-49AF-90DC-AB04-D1CF29A1A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995891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F9591D0-AE01-20A3-0AAC-85221263A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8266A6C2-992E-7863-2F58-C0ABF5173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EC95985A-F4C4-3383-02DA-15774BDFE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gouvernance garantit la confiance, la conformité et l’adoption de la solution.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71166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7AB7695E-8E3D-3963-6553-016F0CF09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2A6D558B-D9A1-06B7-A80A-1F8C310A74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B77359C6-2248-4DA9-BB23-D27C3FF4D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réglementations ont été intégrées dès la conception, selon une approche </a:t>
            </a:r>
            <a:r>
              <a:rPr lang="fr-FR" dirty="0" err="1"/>
              <a:t>privacy</a:t>
            </a:r>
            <a:r>
              <a:rPr lang="fr-FR" dirty="0"/>
              <a:t> by design.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04332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0AC7171-93F9-FCD9-8502-87686017A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A79F65D-98DF-29A5-0421-B54DFBD85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0F809BA-B419-7230-F452-B4CCD357D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accès aux données sont contrôlés afin de garantir la sécurité et la confidentialité.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929286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76FEBF30-C21F-E0EB-0764-219B1C0AA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335CBD5-4744-80AC-634A-256849CF3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95D2C30-5AFC-BC73-58BE-D3E7B3865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traçabilité permet d’expliquer chaque indicateur produit au métier.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243023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42ABCA2-1A6B-4679-199E-F938F362B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74A264E2-A512-309D-7350-97C301077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2F6C414-22FA-190C-AF58-2A4751F141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déploiement est progressif et sécurisé afin de limiter les risques.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62798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9347E56-32A9-5B4A-221B-77109088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C65B35CF-2331-09B0-0399-65DBCB99B6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270004C-1344-4B9F-9F78-73DA8793F3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supervision permet d’anticiper les incidents et d’assurer la continuité de service.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39788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4705263-A743-EDD3-3AB1-5FA4932B3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58C75C5-3F0C-B8AF-6892-C44AFD41C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9CF081E-08AB-CCDB-D6D8-F0A452079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La solution est pensée pour évoluer sans remise en cause globale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326945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71860A21-054D-9469-0225-3D2CD34F6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3928DA0-5B8C-5113-A9D8-31DCAC8244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4AC2C884-EAFF-4225-3023-0553C30242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projet a été piloté comme un projet réel, avec des livrables, des délais et des arbitrages.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42927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E72ABC0-C1DA-45EB-3BED-18AD39D0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DC11B210-31FD-4E6A-D131-EDCD5A16C0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4C6837B-4FC9-FF41-0625-E4CE60E44F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Les choix technologiques ont été faits en tenant compte du rapport coût / valeur.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53359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25C028A-0997-4AAA-F318-4EF11575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A57BD73C-E0F7-2367-CC28-E32D7023C8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A40E0245-B5DE-2C9E-10DE-9279964102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L’accompagnement des utilisateurs est essentiel pour garantir l’adoption de la solution.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613941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34805A3-4C0D-7464-446A-E8D55B60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88B5C42D-0CB6-315F-C450-1862FDD589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0A4802F-D630-33FA-1F9B-FBBB67A278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Amazon est un acteur majeur du e-commerce et du cloud.</a:t>
            </a:r>
            <a:br>
              <a:rPr lang="fr-FR" dirty="0"/>
            </a:br>
            <a:r>
              <a:rPr lang="fr-FR" dirty="0"/>
              <a:t>Dans ce contexte, les avis clients sont devenus un élément central de confiance, aussi bien pour les acheteurs que pour les équipes internes.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006641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1E73B90-4B93-88C3-B58B-F8D3B3C2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4BC406F-25F8-B369-28E7-80A6E06D3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12DC82A4-93AB-F8DC-3B6A-6B93CD513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 projet couvre l’ensemble du cycle de vie d’une solution data.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50587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5922A11-C4F5-4795-9207-5F4664C3D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4F5D6B8E-A4B9-F5F8-29F7-ADBEDADDE3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3CE107DA-F43E-4952-2648-B73680180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Plusieurs évolutions sont possibles, notamment sur les modèles et les cas d’usage.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848582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CEFDFBC-8EF5-1D1D-26D6-B72B1A5B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AA79AE2-17E0-8FCF-D193-9EE2299258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2DEE3E65-D686-514B-66A5-946A06491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Ce projet reflète mon positionnement de Data </a:t>
            </a:r>
            <a:r>
              <a:rPr lang="fr-FR" dirty="0" err="1"/>
              <a:t>Engineer</a:t>
            </a:r>
            <a:r>
              <a:rPr lang="fr-FR" dirty="0"/>
              <a:t> orienté architecture et gouvernance.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410042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6809DF1-3ACF-16F0-8D58-F612F488A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E2159FE4-7509-BFB2-59A2-C0332F4B27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C312D6B5-B2FA-1CC5-6A97-55BE87FFB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Pour conclure, ce projet démontre ma capacité à concevoir, déployer et piloter une solution data complète et responsable.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104075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1B4218-F9F7-5DC5-D113-71B18B8A0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F44C400-7F46-91F9-6436-758ED1385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D772C-0327-C1FC-521B-FA837744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47225F-7012-EFA4-3C0B-6601AA19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D28EC2-7A50-1F42-C19E-56C42F4B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710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AE60B-9E84-57AA-9B74-8BB0ECCE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9ECFBB-4A8C-73AA-DF6F-8E41CB0EB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096CDB-241E-ABBB-4576-04CC2AFA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CED717-F42B-1A5B-2045-0BA0CD7A4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26EB35-D8F6-EADD-A3A0-E5EDD717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408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C2E05-3638-67B8-4398-E1D1E842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852BED-8CDB-9FB6-3F32-A57EBF842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C21305-E70E-B207-18AA-6361C873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A0161D-F49F-0DC3-CFA1-238CE65E5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35434A-FADE-4B50-74D4-C04E1C6A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3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8A17F5-26D8-62B0-E4F2-FE665927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19E3AE-B400-ECBE-8009-C5C459E5A8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3AD2527-A417-F563-3844-1E0F1001E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EB9906-8C1E-0D80-3D2A-9EEF3FC4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8C155E-371E-FBCD-83E9-88E7F90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80568C7-C67C-5505-7FEE-BD74031DF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999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06227E-2A05-1057-4E84-960AD933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5BF01B4-3AC7-7FA6-7873-CDDFF759B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798089-73BF-C28E-CD0A-455E40699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A6BFD47-0191-61D1-6FBC-6391DED66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47462EB-BD9B-F144-7F8B-CA52D8492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30C3AA6-671D-7D6A-F8FC-464D2986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64C179E-1DA8-2A9C-29B7-E77D1CD0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5890ED8-BDAB-4C53-C4E5-003C8743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851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F09145-38BA-3E03-6467-9C8EB95F8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BF1BF34-773E-C4DD-E371-D3470D06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DAFC8A5-3726-3EC5-BB44-153D3D384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C6E8E6-1CD7-C755-A4CC-F3954756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631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9FBCEFE-9FC1-8769-75D3-1171AEF5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D498330-3FE7-8122-926D-9411D8CCE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5497A2-D5E5-4392-0DAE-F6419C87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4717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70721-FF41-422C-AE40-843E9B36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A61EAA-ECF8-50A8-1F13-A3E5E6ACE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C346467-0441-02FE-1674-0E39A3DFC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AFC4E8-FD68-09DD-8C04-3B0702F3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347A0A7-713F-5DE2-A4AE-95B85389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25BD15C-0D3F-1809-9284-A8BF2197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369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3E7B7F-F4DE-9E03-5283-EC90DB9E7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00E8A0E-0FF8-AD49-2DDF-1465AC288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1894E5D-A1F4-1EA4-06E9-7E5231AE6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195931-2211-DB7D-0A6A-76EBB743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2DBA84-9397-6DC9-AC25-C57ED5011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7385D9-BD6E-3DCB-0CC5-60EB13E2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8066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5731-9CE5-DE82-1C64-AF8732673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A654D5-11E2-4613-2011-9A3B9B826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8C2BCF-68CC-DAC0-F9BB-92A28BBD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DA73EE-43DD-0F7E-F9D7-AADFF3DB8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441216-56CC-14B3-DD15-0AB88299E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679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CD01EF-2F45-4D1B-E60E-11A7232E2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247502-EA9C-3168-3732-20137EAA6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C5CC4C-5B08-C7B5-43FF-7CE11A60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7EB222-2942-B8B3-50D3-7A59F5CB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758D70-1D48-E302-F735-D834E596B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6567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41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1F98F33-7B97-B372-85CB-C152DF9C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7583ED-BF95-7335-D7F5-20CD687E2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A4CEAA-A355-E3F3-488E-9431B55D9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fr-FR"/>
              <a:t>18/12/2025</a:t>
            </a:r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550479-637C-2866-A2A6-2374EDC916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3B81EE-2A21-FDE8-10AA-76D8FBC96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BEF9D56-1D47-DDD8-B29A-20E67A17C2C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52087" y="4927600"/>
            <a:ext cx="665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A8A8A8">
                    <a:alpha val="50000"/>
                  </a:srgbClr>
                </a:solidFill>
                <a:latin typeface="Aptos" panose="020B0004020202020204" pitchFamily="34" charset="0"/>
              </a:rPr>
              <a:t>C2 - Interne</a:t>
            </a:r>
          </a:p>
        </p:txBody>
      </p:sp>
      <p:pic>
        <p:nvPicPr>
          <p:cNvPr id="8" name="Image 7" descr="Une image contenant Graphique, Police, graphisme, logo&#10;&#10;Le contenu généré par l’IA peut être incorrect.">
            <a:extLst>
              <a:ext uri="{FF2B5EF4-FFF2-40B4-BE49-F238E27FC236}">
                <a16:creationId xmlns:a16="http://schemas.microsoft.com/office/drawing/2014/main" id="{068F5153-42B1-797E-3EA2-C2F4111CEF4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229601" y="-1"/>
            <a:ext cx="914400" cy="785191"/>
          </a:xfrm>
          <a:prstGeom prst="rect">
            <a:avLst/>
          </a:prstGeom>
        </p:spPr>
      </p:pic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50A4326-8B51-E247-4411-742814A5C0EE}"/>
              </a:ext>
            </a:extLst>
          </p:cNvPr>
          <p:cNvPicPr preferRelativeResize="0"/>
          <p:nvPr userDrawn="1"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0" y="154731"/>
            <a:ext cx="685800" cy="459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0" y="4153200"/>
            <a:ext cx="2548800" cy="5779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fr" sz="2000" dirty="0">
                <a:solidFill>
                  <a:srgbClr val="002060"/>
                </a:solidFill>
                <a:latin typeface="Inter Medium"/>
                <a:ea typeface="Inter Medium"/>
                <a:cs typeface="Inter Medium"/>
                <a:sym typeface="Inter Medium"/>
              </a:rPr>
              <a:t>Ismaël SYLLA</a:t>
            </a:r>
            <a:endParaRPr sz="2000" dirty="0">
              <a:solidFill>
                <a:srgbClr val="002060"/>
              </a:solidFill>
              <a:latin typeface="Inter Medium"/>
              <a:ea typeface="Inter Medium"/>
              <a:sym typeface="Inter Medium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 idx="4294967295"/>
          </p:nvPr>
        </p:nvSpPr>
        <p:spPr>
          <a:xfrm>
            <a:off x="790674" y="1884066"/>
            <a:ext cx="7737231" cy="702866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sz="40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– Analyse des avis produits</a:t>
            </a:r>
            <a:endParaRPr sz="4000" b="1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451" y="2760392"/>
            <a:ext cx="3405549" cy="23831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D7A73CF2-6999-621A-BC04-F15157F7B146}"/>
              </a:ext>
            </a:extLst>
          </p:cNvPr>
          <p:cNvSpPr txBox="1">
            <a:spLocks/>
          </p:cNvSpPr>
          <p:nvPr/>
        </p:nvSpPr>
        <p:spPr>
          <a:xfrm>
            <a:off x="0" y="4816800"/>
            <a:ext cx="3602182" cy="32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100" dirty="0">
                <a:solidFill>
                  <a:srgbClr val="002060"/>
                </a:solidFill>
                <a:latin typeface="Inter Medium"/>
                <a:ea typeface="Inter Medium"/>
              </a:rPr>
              <a:t>Soutenance – Certification</a:t>
            </a:r>
            <a:br>
              <a:rPr lang="fr-FR" sz="1100" dirty="0">
                <a:solidFill>
                  <a:srgbClr val="002060"/>
                </a:solidFill>
                <a:latin typeface="Inter Medium"/>
                <a:ea typeface="Inter Medium"/>
              </a:rPr>
            </a:br>
            <a:r>
              <a:rPr lang="fr-FR" sz="1100" dirty="0">
                <a:solidFill>
                  <a:srgbClr val="002060"/>
                </a:solidFill>
                <a:latin typeface="Inter Medium"/>
                <a:ea typeface="Inter Medium"/>
              </a:rPr>
              <a:t>D</a:t>
            </a:r>
            <a:r>
              <a:rPr lang="fr-FR" sz="1100" dirty="0">
                <a:solidFill>
                  <a:srgbClr val="002060"/>
                </a:solidFill>
                <a:latin typeface="Inter Medium"/>
                <a:ea typeface="Inter Medium"/>
                <a:sym typeface="Inter Medium"/>
              </a:rPr>
              <a:t>écembre 2025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CBADACA1-7A57-6DAC-C6D9-7615452FEE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9270" y="549220"/>
            <a:ext cx="2500040" cy="754573"/>
          </a:xfrm>
          <a:prstGeom prst="rect">
            <a:avLst/>
          </a:prstGeom>
        </p:spPr>
      </p:pic>
      <p:sp>
        <p:nvSpPr>
          <p:cNvPr id="3" name="Google Shape;57;p13">
            <a:extLst>
              <a:ext uri="{FF2B5EF4-FFF2-40B4-BE49-F238E27FC236}">
                <a16:creationId xmlns:a16="http://schemas.microsoft.com/office/drawing/2014/main" id="{3A213131-3632-ACB0-BB0B-53755F1B0106}"/>
              </a:ext>
            </a:extLst>
          </p:cNvPr>
          <p:cNvSpPr txBox="1">
            <a:spLocks/>
          </p:cNvSpPr>
          <p:nvPr/>
        </p:nvSpPr>
        <p:spPr>
          <a:xfrm>
            <a:off x="2493818" y="2586932"/>
            <a:ext cx="4156363" cy="41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400" dirty="0">
                <a:solidFill>
                  <a:srgbClr val="002060"/>
                </a:solidFill>
                <a:latin typeface="Inter Medium"/>
                <a:ea typeface="Inter Medium"/>
              </a:rPr>
              <a:t>Projet Data Engineering &amp; Analyse avancée</a:t>
            </a:r>
            <a:r>
              <a:rPr lang="fr-FR" sz="1400" dirty="0">
                <a:solidFill>
                  <a:srgbClr val="002060"/>
                </a:solidFill>
                <a:latin typeface="Inter Medium"/>
                <a:ea typeface="Inter Medium"/>
                <a:sym typeface="Inter Medium"/>
              </a:rPr>
              <a:t>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4E25E3-655C-A745-8D45-D9DFF6B4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5E522D1-74DE-CABF-672C-6EA713695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30A4D1ED-F81C-2B0C-71B2-ACAEEC90CF5B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E8AA836A-192B-F482-2561-4C25D7806F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A9886918-91CD-306F-781D-B9A5CFFF77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69B0FB-0478-E931-9C82-99A18555A2C7}"/>
              </a:ext>
            </a:extLst>
          </p:cNvPr>
          <p:cNvSpPr txBox="1"/>
          <p:nvPr/>
        </p:nvSpPr>
        <p:spPr>
          <a:xfrm>
            <a:off x="748938" y="967442"/>
            <a:ext cx="82557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fr-FR" dirty="0"/>
              <a:t> Introduction &amp; contexte du projet</a:t>
            </a:r>
          </a:p>
          <a:p>
            <a:pPr>
              <a:buFont typeface="+mj-lt"/>
              <a:buAutoNum type="arabicPeriod"/>
            </a:pP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/>
              <a:t> Analyse stratégique et identification du besoin</a:t>
            </a:r>
          </a:p>
          <a:p>
            <a:pPr>
              <a:buFont typeface="+mj-lt"/>
              <a:buAutoNum type="arabicPeriod"/>
            </a:pP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/>
              <a:t> Architecture data globale</a:t>
            </a:r>
          </a:p>
          <a:p>
            <a:pPr>
              <a:buFont typeface="+mj-lt"/>
              <a:buAutoNum type="arabicPeriod"/>
            </a:pP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/>
              <a:t> Data Engineering &amp; pipelines</a:t>
            </a:r>
          </a:p>
          <a:p>
            <a:pPr>
              <a:buFont typeface="+mj-lt"/>
              <a:buAutoNum type="arabicPeriod"/>
            </a:pP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/>
              <a:t> Analyse avancée des avis &amp; NLP</a:t>
            </a:r>
          </a:p>
          <a:p>
            <a:pPr>
              <a:buFont typeface="+mj-lt"/>
              <a:buAutoNum type="arabicPeriod"/>
            </a:pP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/>
              <a:t> Gouvernance, déploiement &amp; pilotage</a:t>
            </a:r>
          </a:p>
          <a:p>
            <a:pPr>
              <a:buFont typeface="+mj-lt"/>
              <a:buAutoNum type="arabicPeriod"/>
            </a:pPr>
            <a:endParaRPr lang="fr-FR" dirty="0"/>
          </a:p>
          <a:p>
            <a:pPr>
              <a:buFont typeface="+mj-lt"/>
              <a:buAutoNum type="arabicPeriod"/>
            </a:pPr>
            <a:r>
              <a:rPr lang="fr-FR" dirty="0"/>
              <a:t> Conclusion &amp; perspective</a:t>
            </a:r>
          </a:p>
          <a:p>
            <a:pPr>
              <a:buFont typeface="+mj-lt"/>
              <a:buAutoNum type="arabicPeriod"/>
            </a:pP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CB719B-C51B-CCEB-D302-A4D69A96649E}"/>
              </a:ext>
            </a:extLst>
          </p:cNvPr>
          <p:cNvSpPr txBox="1"/>
          <p:nvPr/>
        </p:nvSpPr>
        <p:spPr>
          <a:xfrm>
            <a:off x="2133600" y="31801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u="sng"/>
              <a:t>PLAN DE LA PRÉSENTATION</a:t>
            </a:r>
            <a:endParaRPr lang="fr-FR" b="1" u="sng" dirty="0"/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030424D5-78B6-8C8D-6AF1-912EA61AFB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019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61F429D1-FD29-BB37-040A-B4B50C693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8534FCD9-ED07-3119-0D2B-8B7638CB4E1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823A0BDF-2080-6D7D-B267-0C3F4C8A98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9D8D4386-81C8-B6DD-06FC-F0DD481B2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315B015-165A-18B4-49C0-7E120C92335D}"/>
              </a:ext>
            </a:extLst>
          </p:cNvPr>
          <p:cNvSpPr txBox="1"/>
          <p:nvPr/>
        </p:nvSpPr>
        <p:spPr>
          <a:xfrm>
            <a:off x="587830" y="212272"/>
            <a:ext cx="82557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PARTIE 1</a:t>
            </a:r>
          </a:p>
          <a:p>
            <a:pPr algn="ctr"/>
            <a:r>
              <a:rPr lang="fr-FR" sz="3200" b="1" u="sng" dirty="0"/>
              <a:t>Introduction &amp; contexte du projet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505A98-46F8-CE43-3ECC-4E6AE36F865D}"/>
              </a:ext>
            </a:extLst>
          </p:cNvPr>
          <p:cNvSpPr txBox="1"/>
          <p:nvPr/>
        </p:nvSpPr>
        <p:spPr>
          <a:xfrm>
            <a:off x="6733330" y="4037904"/>
            <a:ext cx="211022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700" b="1" dirty="0"/>
              <a:t>Compétences RNCP mobilisées</a:t>
            </a:r>
          </a:p>
          <a:p>
            <a:pPr>
              <a:buNone/>
            </a:pPr>
            <a:endParaRPr lang="fr-FR" sz="700" b="1" dirty="0"/>
          </a:p>
          <a:p>
            <a:pPr>
              <a:buNone/>
            </a:pPr>
            <a:r>
              <a:rPr lang="fr-FR" sz="700" b="1" dirty="0"/>
              <a:t>C1 – Analyse de l’écosystème et du contexte</a:t>
            </a:r>
            <a:br>
              <a:rPr lang="fr-FR" sz="700" dirty="0"/>
            </a:br>
            <a:r>
              <a:rPr lang="fr-FR" sz="700" b="1" dirty="0"/>
              <a:t>C8 – Cadrage et formalisation du besoin</a:t>
            </a:r>
            <a:br>
              <a:rPr lang="fr-FR" sz="700" dirty="0"/>
            </a:br>
            <a:r>
              <a:rPr lang="fr-FR" sz="700" b="1" dirty="0"/>
              <a:t>C26 – Pilotage et vision globale du projet</a:t>
            </a:r>
            <a:endParaRPr lang="fr-FR" sz="7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7E47AB8-4A54-947B-F3CF-A80751E126FA}"/>
              </a:ext>
            </a:extLst>
          </p:cNvPr>
          <p:cNvSpPr txBox="1"/>
          <p:nvPr/>
        </p:nvSpPr>
        <p:spPr>
          <a:xfrm>
            <a:off x="384035" y="2460074"/>
            <a:ext cx="49023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dirty="0"/>
              <a:t>Présenter le contexte global du projet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Exposer la problématique métier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Définir les objectifs et la vision d’ensemble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2C9BA73-E819-838B-E09F-7D5D9D5A905C}"/>
              </a:ext>
            </a:extLst>
          </p:cNvPr>
          <p:cNvSpPr txBox="1"/>
          <p:nvPr/>
        </p:nvSpPr>
        <p:spPr>
          <a:xfrm>
            <a:off x="2286000" y="12542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Objectifs de la partie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1A50C6E2-491E-6110-B9FA-A6B6B15EC3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0433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1141846A-FB1B-34E8-F60D-E6F0C13475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9AA6CCF-2CD4-59C2-2967-AB99491306CE}"/>
              </a:ext>
            </a:extLst>
          </p:cNvPr>
          <p:cNvSpPr txBox="1"/>
          <p:nvPr/>
        </p:nvSpPr>
        <p:spPr>
          <a:xfrm>
            <a:off x="672485" y="1879252"/>
            <a:ext cx="62798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dirty="0"/>
              <a:t>Amazon est un acteur majeur du e-commerce et du cloud </a:t>
            </a:r>
            <a:r>
              <a:rPr lang="fr-FR" dirty="0" err="1"/>
              <a:t>computing</a:t>
            </a:r>
            <a:endParaRPr lang="fr-FR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fr-FR" dirty="0"/>
              <a:t>Les avis clients jouent un rôle clé dans :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fr-FR" dirty="0"/>
              <a:t>la confiance des acheteurs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fr-FR" dirty="0"/>
              <a:t>la visibilité des produits</a:t>
            </a:r>
          </a:p>
          <a:p>
            <a:pPr marL="742950" lvl="1" indent="-285750" algn="just">
              <a:buFont typeface="Wingdings" panose="05000000000000000000" pitchFamily="2" charset="2"/>
              <a:buChar char="§"/>
            </a:pPr>
            <a:r>
              <a:rPr lang="fr-FR" dirty="0"/>
              <a:t>la prise de décision interne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BA33A21-D4D1-39F1-7310-165966BE984C}"/>
              </a:ext>
            </a:extLst>
          </p:cNvPr>
          <p:cNvSpPr txBox="1"/>
          <p:nvPr/>
        </p:nvSpPr>
        <p:spPr>
          <a:xfrm>
            <a:off x="672484" y="1041069"/>
            <a:ext cx="2859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CONTEXTE GÉNÉRAL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AA1A5D-8AEF-A73B-9DAE-C07C2E30AA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1">
          <a:extLst>
            <a:ext uri="{FF2B5EF4-FFF2-40B4-BE49-F238E27FC236}">
              <a16:creationId xmlns:a16="http://schemas.microsoft.com/office/drawing/2014/main" id="{C9650325-D0F1-DAE6-D75F-EE8F6F77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97C04DF-7647-BA7F-ADBF-3BEFF73BEAAE}"/>
              </a:ext>
            </a:extLst>
          </p:cNvPr>
          <p:cNvSpPr txBox="1"/>
          <p:nvPr/>
        </p:nvSpPr>
        <p:spPr>
          <a:xfrm>
            <a:off x="672485" y="1879252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Volume massif d’avis clients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Avis hétérogènes, parfois peu exploitables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Difficulté à identifier rapidement les avis réellement pertinents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1EC6AE-686B-302A-FAD9-A4647C854D16}"/>
              </a:ext>
            </a:extLst>
          </p:cNvPr>
          <p:cNvSpPr txBox="1"/>
          <p:nvPr/>
        </p:nvSpPr>
        <p:spPr>
          <a:xfrm>
            <a:off x="672485" y="1041069"/>
            <a:ext cx="216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PROBLÉMATIQUE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A5B33A-BF67-D9EA-FFD0-0EEA4B16D3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89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BD0DDF8-3FF6-BC7F-ECE2-FE9969FFA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A85ABF5-23A7-B5E2-E216-A92AB4B995B3}"/>
              </a:ext>
            </a:extLst>
          </p:cNvPr>
          <p:cNvSpPr txBox="1"/>
          <p:nvPr/>
        </p:nvSpPr>
        <p:spPr>
          <a:xfrm>
            <a:off x="672485" y="1771531"/>
            <a:ext cx="653241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fr-FR" dirty="0"/>
              <a:t>Identifier et classer les avis clients les plus pertinents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fr-FR" dirty="0"/>
              <a:t>Automatiser l’analyse des avis textuels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fr-FR" dirty="0"/>
              <a:t>Améliorer la qualité des décisions métier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fr-FR" dirty="0"/>
              <a:t>Mettre en place une solution fiable et gouvernée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3053D3-1CCA-1476-8DEE-08E819763D44}"/>
              </a:ext>
            </a:extLst>
          </p:cNvPr>
          <p:cNvSpPr txBox="1"/>
          <p:nvPr/>
        </p:nvSpPr>
        <p:spPr>
          <a:xfrm>
            <a:off x="672485" y="98720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OBJECTIFS DU PROJET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8CE2BE-10AC-099C-DEB3-FA715F51C6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012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B1B7CF1-2FAC-EEB8-5D45-A3B04FCD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2433CFD-D0A3-5D94-691F-B66E5B7E13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1FF9C99-33B9-52D5-B9D6-FC3FD5A80632}"/>
              </a:ext>
            </a:extLst>
          </p:cNvPr>
          <p:cNvSpPr txBox="1"/>
          <p:nvPr/>
        </p:nvSpPr>
        <p:spPr>
          <a:xfrm>
            <a:off x="588755" y="2037058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Analyse stratégique &amp; cadrage du besoin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Data Engineering &amp; pipelines de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Analyse avancée &amp; NLP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Gouvernance, pilotage et déploiement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5C79C1-AF0B-5F09-0ED9-232F1EA98587}"/>
              </a:ext>
            </a:extLst>
          </p:cNvPr>
          <p:cNvSpPr txBox="1"/>
          <p:nvPr/>
        </p:nvSpPr>
        <p:spPr>
          <a:xfrm>
            <a:off x="672485" y="11199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VISION GLOBALE DU PROJET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E0F561-54E2-0C75-404C-28239647CF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39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DE110AA-6103-6A09-A141-44B509239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60B05E6-042B-8E12-C0E1-7BF7FD2BE0B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D345DB1-862E-2496-0B56-7DA93028A6B1}"/>
              </a:ext>
            </a:extLst>
          </p:cNvPr>
          <p:cNvSpPr txBox="1"/>
          <p:nvPr/>
        </p:nvSpPr>
        <p:spPr>
          <a:xfrm>
            <a:off x="672485" y="1816271"/>
            <a:ext cx="61855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Projet orienté </a:t>
            </a:r>
            <a:r>
              <a:rPr lang="fr-FR" b="1" dirty="0"/>
              <a:t>Data Engineering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Forte dimension </a:t>
            </a:r>
            <a:r>
              <a:rPr lang="fr-FR" b="1" dirty="0"/>
              <a:t>analyse et valeur métier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Prise en compte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des contraintes techniques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des contraintes réglementaires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des contraintes organisationnelles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05D8937-387E-1DC5-FC86-7FFDEDA05467}"/>
              </a:ext>
            </a:extLst>
          </p:cNvPr>
          <p:cNvSpPr txBox="1"/>
          <p:nvPr/>
        </p:nvSpPr>
        <p:spPr>
          <a:xfrm>
            <a:off x="672485" y="100957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POSITIONNEMENT DU PROJET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EFB5F6-F95E-9CC9-A0A6-B60FF9D0DB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1364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8DDBB89A-D484-8D73-5169-53111DBCC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F0AB8F34-85A6-0AEF-2C90-D96A93AD729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0C4C6120-1010-1C5C-40A7-2D80D28F07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3B15A22E-BD16-5C69-431E-6BA5CFDB84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70C1048-483B-7EDD-D7E5-8DCA23000590}"/>
              </a:ext>
            </a:extLst>
          </p:cNvPr>
          <p:cNvSpPr txBox="1"/>
          <p:nvPr/>
        </p:nvSpPr>
        <p:spPr>
          <a:xfrm>
            <a:off x="-38621" y="186755"/>
            <a:ext cx="922124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PARTIE 2</a:t>
            </a:r>
          </a:p>
          <a:p>
            <a:pPr algn="ctr"/>
            <a:r>
              <a:rPr lang="fr-FR" sz="3200" b="1" u="sng" dirty="0"/>
              <a:t>Analyse stratégique et identification du besoin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7ED6C29-FD07-806E-8591-A92F800A015F}"/>
              </a:ext>
            </a:extLst>
          </p:cNvPr>
          <p:cNvSpPr txBox="1"/>
          <p:nvPr/>
        </p:nvSpPr>
        <p:spPr>
          <a:xfrm>
            <a:off x="6733330" y="4037904"/>
            <a:ext cx="211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700" b="1" dirty="0"/>
              <a:t>Compétences RNCP mobilisées</a:t>
            </a:r>
          </a:p>
          <a:p>
            <a:pPr>
              <a:buNone/>
            </a:pPr>
            <a:endParaRPr lang="fr-FR" sz="700" b="1" dirty="0"/>
          </a:p>
          <a:p>
            <a:pPr>
              <a:buNone/>
            </a:pPr>
            <a:r>
              <a:rPr lang="fr-FR" sz="700" b="1" dirty="0"/>
              <a:t>C1 – C6 </a:t>
            </a:r>
          </a:p>
          <a:p>
            <a:pPr>
              <a:buNone/>
            </a:pPr>
            <a:r>
              <a:rPr lang="fr-FR" sz="700" b="1" dirty="0"/>
              <a:t>C8</a:t>
            </a:r>
            <a:endParaRPr lang="fr-FR" sz="7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0A6333C-8326-B9E8-2560-4325C279FB54}"/>
              </a:ext>
            </a:extLst>
          </p:cNvPr>
          <p:cNvSpPr txBox="1"/>
          <p:nvPr/>
        </p:nvSpPr>
        <p:spPr>
          <a:xfrm>
            <a:off x="384035" y="2460074"/>
            <a:ext cx="490238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dirty="0"/>
              <a:t>Analyser le contexte et les enjeux du projet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Identifier les besoins métier prioritaires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Définir le cas d’usage à plus forte valeur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1A9F120-8C2B-981A-6035-4C179E4374B6}"/>
              </a:ext>
            </a:extLst>
          </p:cNvPr>
          <p:cNvSpPr txBox="1"/>
          <p:nvPr/>
        </p:nvSpPr>
        <p:spPr>
          <a:xfrm>
            <a:off x="2286000" y="126932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Objectifs de la partie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C0D86B03-AD02-FAA6-6769-1CD37013D6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1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543DF87-FD0E-2544-E53D-441F7951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80A0567-5907-6820-9792-AC2F0A997876}"/>
              </a:ext>
            </a:extLst>
          </p:cNvPr>
          <p:cNvSpPr txBox="1"/>
          <p:nvPr/>
        </p:nvSpPr>
        <p:spPr>
          <a:xfrm>
            <a:off x="384034" y="2571750"/>
            <a:ext cx="52910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Acteur majeur du e-commerce et du cloud </a:t>
            </a:r>
            <a:r>
              <a:rPr lang="fr-FR" dirty="0" err="1"/>
              <a:t>computing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Écosystème data à très grande échelle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Les avis clients sont un levier clé de confiance et de performance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47936E-C9FE-32B8-5815-641B9F4F7BCB}"/>
              </a:ext>
            </a:extLst>
          </p:cNvPr>
          <p:cNvSpPr txBox="1"/>
          <p:nvPr/>
        </p:nvSpPr>
        <p:spPr>
          <a:xfrm>
            <a:off x="384035" y="138731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/>
              <a:t>PRÉSENTATION D’AMAZON &amp; ÉCOSYSTÈME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C76172-711F-1F67-24DC-313D84275C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001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753A0AF-976F-A83F-C097-55909F4B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6D58D37-6556-2B31-0D97-A9D680F383E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00ECFD4-3594-C05D-D7C8-54433640D882}"/>
              </a:ext>
            </a:extLst>
          </p:cNvPr>
          <p:cNvSpPr txBox="1"/>
          <p:nvPr/>
        </p:nvSpPr>
        <p:spPr>
          <a:xfrm>
            <a:off x="384035" y="1005102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ANALYSE STRATÉGIQUE (SWOT)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endParaRPr lang="fr-FR" b="1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67C40DF-3672-B5B8-70D9-0FB067E8BD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213456"/>
              </p:ext>
            </p:extLst>
          </p:nvPr>
        </p:nvGraphicFramePr>
        <p:xfrm>
          <a:off x="384035" y="1579150"/>
          <a:ext cx="8521700" cy="14173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972138681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203373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FORCES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FAIBLESSES</a:t>
                      </a:r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4665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• Marque mondiale forte et reconnue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Réseau logistique très performant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Leadership e-commerce &amp; cloud (AWS)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Capacités avancées en IA, NLP et Big Data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Large base de clients fidèles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• Dépendance aux vendeurs tiers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Manque de transparence perçu des algorithmes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Complexité organisationnelle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Risques juridiques et réglementaires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Défis de sécurité à grande échelle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876170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EC117C0-23DC-D331-5B55-FE459612E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660200"/>
              </p:ext>
            </p:extLst>
          </p:nvPr>
        </p:nvGraphicFramePr>
        <p:xfrm>
          <a:off x="384035" y="3042190"/>
          <a:ext cx="8521700" cy="14173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4260850">
                  <a:extLst>
                    <a:ext uri="{9D8B030D-6E8A-4147-A177-3AD203B41FA5}">
                      <a16:colId xmlns:a16="http://schemas.microsoft.com/office/drawing/2014/main" val="3822271522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752768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OPPORTUNITÉS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/>
                        <a:t>MENACES</a:t>
                      </a:r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907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• Croissance des marchés émergents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Exploitation stratégique de l’IA et des LLM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Valorisation des retours clients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Innovation logistique et durable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Fidélisation et hausse du panier moyen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• Concurrence intense (Alibaba, Walmart, Shein…) • Pression réglementaire (RGPD, CCPA, AI </a:t>
                      </a:r>
                      <a:r>
                        <a:rPr lang="fr-FR" dirty="0" err="1"/>
                        <a:t>Act</a:t>
                      </a:r>
                      <a:r>
                        <a:rPr lang="fr-FR" dirty="0"/>
                        <a:t>)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Cyberattaques et fuites de données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Perte de confiance dans les avis produits </a:t>
                      </a:r>
                    </a:p>
                    <a:p>
                      <a:pPr>
                        <a:buNone/>
                      </a:pPr>
                      <a:r>
                        <a:rPr lang="fr-FR" dirty="0"/>
                        <a:t>• Marché en évolution rapide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889734"/>
                  </a:ext>
                </a:extLst>
              </a:tr>
            </a:tbl>
          </a:graphicData>
        </a:graphic>
      </p:graphicFrame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728886A3-E628-A4AE-9C6E-79F28876B1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864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9D80833-1637-E6D8-9606-BAB426CC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D418D0B-CE12-2AF5-F691-F58FB143046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AAD41B-EB6F-8B65-2B57-0C76911E1127}"/>
              </a:ext>
            </a:extLst>
          </p:cNvPr>
          <p:cNvSpPr txBox="1"/>
          <p:nvPr/>
        </p:nvSpPr>
        <p:spPr>
          <a:xfrm>
            <a:off x="597123" y="197387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Clients finaux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Équipes produit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Équipes data &amp; </a:t>
            </a:r>
            <a:r>
              <a:rPr lang="fr-FR" dirty="0" err="1"/>
              <a:t>analytics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Équipes support et qualité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6F3A4CA-F19A-956D-AF5F-3142A9F327B0}"/>
              </a:ext>
            </a:extLst>
          </p:cNvPr>
          <p:cNvSpPr txBox="1"/>
          <p:nvPr/>
        </p:nvSpPr>
        <p:spPr>
          <a:xfrm>
            <a:off x="597123" y="108838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IDENTIFICATION DES PARTIES PRENANTES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ED9489-153A-C4B5-1295-2CB18D892F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1273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95456CC-0BA8-7854-D0A9-508620F3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7CBE91D-9722-20C1-C0F4-39FE7FB98D3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4E8BAE4-84B9-ACF7-DF1C-54BDB9675E56}"/>
              </a:ext>
            </a:extLst>
          </p:cNvPr>
          <p:cNvSpPr txBox="1"/>
          <p:nvPr/>
        </p:nvSpPr>
        <p:spPr>
          <a:xfrm>
            <a:off x="672485" y="2273478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Analyse des usages existants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Méthode Design-</a:t>
            </a:r>
            <a:r>
              <a:rPr lang="fr-FR" dirty="0" err="1"/>
              <a:t>Thinking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Identification des irritants métier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Formalisation des besoins prioritaires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035974B-B736-3046-C0FF-5EF969CD6462}"/>
              </a:ext>
            </a:extLst>
          </p:cNvPr>
          <p:cNvSpPr txBox="1"/>
          <p:nvPr/>
        </p:nvSpPr>
        <p:spPr>
          <a:xfrm>
            <a:off x="672485" y="123818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DÉMARCHE D’IDENTIFICATION DU BESOIN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0365A4-98D8-63BE-4B45-F5FFE96228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412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24309BF-DA02-C5F4-601F-6BBECCB65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5;p15">
            <a:extLst>
              <a:ext uri="{FF2B5EF4-FFF2-40B4-BE49-F238E27FC236}">
                <a16:creationId xmlns:a16="http://schemas.microsoft.com/office/drawing/2014/main" id="{D8937EF4-B18A-CF1D-811F-4895E4784C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64E7F10-5C34-18AB-118C-1571DD75DE2F}"/>
              </a:ext>
            </a:extLst>
          </p:cNvPr>
          <p:cNvSpPr txBox="1"/>
          <p:nvPr/>
        </p:nvSpPr>
        <p:spPr>
          <a:xfrm>
            <a:off x="672485" y="2571749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Client final : recherche des avis fiables et utiles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Responsable produit : compréhension des retours clients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Analyste data : automatisation de l’analyse des avis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2A0AC07-21D7-2DF5-E02A-A546E88B20FD}"/>
              </a:ext>
            </a:extLst>
          </p:cNvPr>
          <p:cNvSpPr txBox="1"/>
          <p:nvPr/>
        </p:nvSpPr>
        <p:spPr>
          <a:xfrm>
            <a:off x="672485" y="138731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PERSONAS &amp; BESOINS IDENTIFIÉS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21C33D-8B9C-5849-8D0E-50BD5696B8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2877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1D62564-33DF-68E3-35B3-DE983269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D7274B1-3565-AF89-56E2-D3C0E4ADD89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382D730-BEA6-1967-D439-C421B431EC70}"/>
              </a:ext>
            </a:extLst>
          </p:cNvPr>
          <p:cNvSpPr txBox="1"/>
          <p:nvPr/>
        </p:nvSpPr>
        <p:spPr>
          <a:xfrm>
            <a:off x="672485" y="1794440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Mettre en avant les avis clients les plus pertinents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Analyser les tendances de satisfaction produit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Automatiser la classification des avis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Améliorer la prise de décision produit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1B8DB81-3F02-F44E-66EF-B2CBB4D4D71D}"/>
              </a:ext>
            </a:extLst>
          </p:cNvPr>
          <p:cNvSpPr txBox="1"/>
          <p:nvPr/>
        </p:nvSpPr>
        <p:spPr>
          <a:xfrm>
            <a:off x="672485" y="95410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CAS D’USAGE IDENTIFIÉS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B8EBB-8B30-45D1-B2DD-F07DF7C07E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8675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AD41E6B-2CF8-4011-055D-7720180E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BF763F42-CFD9-978B-6CE0-07A83062BD40}"/>
              </a:ext>
            </a:extLst>
          </p:cNvPr>
          <p:cNvSpPr txBox="1"/>
          <p:nvPr/>
        </p:nvSpPr>
        <p:spPr>
          <a:xfrm>
            <a:off x="672485" y="155608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Classer les avis clients et identifier leur pertinence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Valeur ajoutée:</a:t>
            </a:r>
          </a:p>
          <a:p>
            <a:pPr>
              <a:buNone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Gain de temps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Réduction du travail manuel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Analyse plus rapide et plus fiable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35F6F0F-BEF5-073C-EF47-9E6C27CD95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C3972D6-9B61-5881-BBC8-FE2CB08C4E46}"/>
              </a:ext>
            </a:extLst>
          </p:cNvPr>
          <p:cNvSpPr txBox="1"/>
          <p:nvPr/>
        </p:nvSpPr>
        <p:spPr>
          <a:xfrm>
            <a:off x="672485" y="89139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CAS D’USAGE RETENU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980204E-1B09-99C3-C09C-6EB8151973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074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3E137E1-66AE-B695-01B6-4B43B36D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3B74340-C1FB-72A9-0230-490325E4B9E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3594A5-6FEF-031F-3F68-825E71234943}"/>
              </a:ext>
            </a:extLst>
          </p:cNvPr>
          <p:cNvSpPr txBox="1"/>
          <p:nvPr/>
        </p:nvSpPr>
        <p:spPr>
          <a:xfrm>
            <a:off x="672485" y="1771531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Stockage &amp; Data Lake : Amazon S3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Data Warehouse : </a:t>
            </a:r>
            <a:r>
              <a:rPr lang="fr-FR" dirty="0" err="1"/>
              <a:t>Snowflake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Analyse &amp; ML : NLP, </a:t>
            </a:r>
            <a:r>
              <a:rPr lang="fr-FR" dirty="0" err="1"/>
              <a:t>Zero</a:t>
            </a:r>
            <a:r>
              <a:rPr lang="fr-FR" dirty="0"/>
              <a:t>-Shot, VADER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Plateformes avancées : </a:t>
            </a:r>
            <a:r>
              <a:rPr lang="fr-FR" dirty="0" err="1"/>
              <a:t>Streamlit</a:t>
            </a:r>
            <a:r>
              <a:rPr lang="fr-FR" dirty="0"/>
              <a:t>, </a:t>
            </a:r>
            <a:r>
              <a:rPr lang="fr-FR" dirty="0" err="1"/>
              <a:t>SageMaker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C344D0D-40D3-98E1-0FF3-B1506D4C0B9E}"/>
              </a:ext>
            </a:extLst>
          </p:cNvPr>
          <p:cNvSpPr txBox="1"/>
          <p:nvPr/>
        </p:nvSpPr>
        <p:spPr>
          <a:xfrm>
            <a:off x="672485" y="98160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VEILLE TECHNOLOGIQUE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783693-7371-0FCA-F4B6-F189826B6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8004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7529DB4-4394-952B-5B93-BFFBFBE2A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35B8D6A-9B1B-58AA-DB35-578556E5CD9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1AF540A-9F3F-D852-1907-638C192672B4}"/>
              </a:ext>
            </a:extLst>
          </p:cNvPr>
          <p:cNvSpPr txBox="1"/>
          <p:nvPr/>
        </p:nvSpPr>
        <p:spPr>
          <a:xfrm>
            <a:off x="672485" y="186241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RGPD : protection et anonymisation des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CCPA : droits des utilisateurs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AI </a:t>
            </a:r>
            <a:r>
              <a:rPr lang="fr-FR" dirty="0" err="1"/>
              <a:t>Act</a:t>
            </a:r>
            <a:r>
              <a:rPr lang="fr-FR" dirty="0"/>
              <a:t> : transparence des algorithmes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RSE : IA responsable et durable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887C306-CCC0-A470-4BF6-15E74133B5C6}"/>
              </a:ext>
            </a:extLst>
          </p:cNvPr>
          <p:cNvSpPr txBox="1"/>
          <p:nvPr/>
        </p:nvSpPr>
        <p:spPr>
          <a:xfrm>
            <a:off x="672485" y="91002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VEILLE RÉGLEMENTAIRE &amp; ÉTHIQUE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BC1AC25-C940-16E6-5BA1-FC35D7A105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764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6B5BE2B-6699-3CB2-42A3-65B225A2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09AF481-BB0A-6146-6C9B-19A69772293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D8BBF0C-0E3E-440C-EA81-D1F4769BB3C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C1A2E2F-8B66-11AE-6FD1-388CDE00581E}"/>
              </a:ext>
            </a:extLst>
          </p:cNvPr>
          <p:cNvSpPr txBox="1"/>
          <p:nvPr/>
        </p:nvSpPr>
        <p:spPr>
          <a:xfrm>
            <a:off x="672485" y="2321270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Documentation centralisée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Partage collaboratif (outils internes)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Mise à jour continue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6E030BBB-F107-7043-99DA-292C68B937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35465" y="1694436"/>
            <a:ext cx="120853" cy="22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B5075C-FC13-471C-864B-DF06A3E4FACB}"/>
              </a:ext>
            </a:extLst>
          </p:cNvPr>
          <p:cNvSpPr txBox="1"/>
          <p:nvPr/>
        </p:nvSpPr>
        <p:spPr>
          <a:xfrm>
            <a:off x="672485" y="126207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/>
              <a:t>PARTAGE DE LA VEILLE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332822-5256-5606-8C03-8EAFCBD384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9336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021B918-EC0D-1A6B-3B74-09BCEFD1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B04FEB9-B5D6-3268-EF33-85BB1C6DEC8E}"/>
              </a:ext>
            </a:extLst>
          </p:cNvPr>
          <p:cNvSpPr txBox="1"/>
          <p:nvPr/>
        </p:nvSpPr>
        <p:spPr>
          <a:xfrm>
            <a:off x="1692393" y="1879252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fr-FR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Besoin métier clairement identifié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Cas d’usage priorisé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Choix technologiques et réglementaires justifiés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2066DE-3927-355C-8903-24F050AC1E22}"/>
              </a:ext>
            </a:extLst>
          </p:cNvPr>
          <p:cNvSpPr txBox="1"/>
          <p:nvPr/>
        </p:nvSpPr>
        <p:spPr>
          <a:xfrm>
            <a:off x="2368144" y="317712"/>
            <a:ext cx="32204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u="sng" dirty="0">
                <a:solidFill>
                  <a:srgbClr val="002060"/>
                </a:solidFill>
              </a:rPr>
              <a:t>Conclusion de la phase stratégique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FC5286C-B0FC-EDC3-A028-38B8ECCF44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6579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AF281615-0670-792D-1320-FFB920BA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BC19095E-72F7-4921-B85A-1BEC2112976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C48CEB03-A6EE-E38E-48E5-505A318EA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6C959452-3754-8477-C35C-794535D220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634CAFE-BF8C-A351-A4C1-CD75C904E2E4}"/>
              </a:ext>
            </a:extLst>
          </p:cNvPr>
          <p:cNvSpPr txBox="1"/>
          <p:nvPr/>
        </p:nvSpPr>
        <p:spPr>
          <a:xfrm>
            <a:off x="-38621" y="186755"/>
            <a:ext cx="922124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PARTIE 3</a:t>
            </a:r>
          </a:p>
          <a:p>
            <a:pPr algn="ctr"/>
            <a:r>
              <a:rPr lang="fr-FR" sz="3200" b="1" u="sng" dirty="0"/>
              <a:t>Architecture data globale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6F26D8-DA4F-D690-CE30-8AC3390ABC5F}"/>
              </a:ext>
            </a:extLst>
          </p:cNvPr>
          <p:cNvSpPr txBox="1"/>
          <p:nvPr/>
        </p:nvSpPr>
        <p:spPr>
          <a:xfrm>
            <a:off x="6733330" y="4037904"/>
            <a:ext cx="211022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700" b="1" dirty="0"/>
              <a:t>Compétences RNCP mobilisées</a:t>
            </a:r>
          </a:p>
          <a:p>
            <a:pPr>
              <a:buNone/>
            </a:pPr>
            <a:endParaRPr lang="fr-FR" sz="700" b="1" dirty="0"/>
          </a:p>
          <a:p>
            <a:pPr>
              <a:buNone/>
            </a:pPr>
            <a:r>
              <a:rPr lang="fr-FR" sz="700" b="1" dirty="0"/>
              <a:t>C9 – C11 </a:t>
            </a:r>
          </a:p>
          <a:p>
            <a:pPr>
              <a:buNone/>
            </a:pPr>
            <a:r>
              <a:rPr lang="fr-FR" sz="700" b="1" dirty="0"/>
              <a:t>C14</a:t>
            </a:r>
          </a:p>
          <a:p>
            <a:pPr>
              <a:buNone/>
            </a:pPr>
            <a:r>
              <a:rPr lang="fr-FR" sz="700" b="1" dirty="0"/>
              <a:t>C15</a:t>
            </a:r>
            <a:endParaRPr lang="fr-FR" sz="7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CF8B800-C45A-4B3B-CF63-9435E5B976BF}"/>
              </a:ext>
            </a:extLst>
          </p:cNvPr>
          <p:cNvSpPr txBox="1"/>
          <p:nvPr/>
        </p:nvSpPr>
        <p:spPr>
          <a:xfrm>
            <a:off x="384035" y="2460074"/>
            <a:ext cx="49023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dirty="0"/>
              <a:t>Présenter l’architecture data cible du projet 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Justifier les choix technologiques retenus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Garantir la sécurité, la traçabilité et la conformité des données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1499B89-3270-9881-4841-5F8A65EE5560}"/>
              </a:ext>
            </a:extLst>
          </p:cNvPr>
          <p:cNvSpPr txBox="1"/>
          <p:nvPr/>
        </p:nvSpPr>
        <p:spPr>
          <a:xfrm>
            <a:off x="2286000" y="12542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Objectifs de la partie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BFF9EC5-9D61-53F9-3F58-6170802623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183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FF7AFC4-B583-E8A0-F774-E7BF00D8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C7901396-8043-C9CD-3D36-C3F313E4E83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67E3389-D10E-61B9-7526-DB1031CEB55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9DFEB76-71F8-8F19-B658-3D2D86531EF9}"/>
              </a:ext>
            </a:extLst>
          </p:cNvPr>
          <p:cNvSpPr txBox="1"/>
          <p:nvPr/>
        </p:nvSpPr>
        <p:spPr>
          <a:xfrm>
            <a:off x="672485" y="1771531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Centraliser et structurer les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Garantir la qualité et la traçabilité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Permettre l’analyse et la valorisation métier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Assurer la scalabilité et la gouvernance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899F03-EF33-5501-A830-092C1B9E7C71}"/>
              </a:ext>
            </a:extLst>
          </p:cNvPr>
          <p:cNvSpPr txBox="1"/>
          <p:nvPr/>
        </p:nvSpPr>
        <p:spPr>
          <a:xfrm>
            <a:off x="672485" y="9713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OBJECTIFS DE L’ARCHITECTURE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8D3425-6F5B-5B34-4C4B-906B2CF5B1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199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25E0D67-3C4B-8CFC-418A-D74C4047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0DE8907B-D9EA-D7C3-C7BE-44FD743B4137}"/>
              </a:ext>
            </a:extLst>
          </p:cNvPr>
          <p:cNvSpPr txBox="1"/>
          <p:nvPr/>
        </p:nvSpPr>
        <p:spPr>
          <a:xfrm>
            <a:off x="672485" y="1823148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Architecture orientée </a:t>
            </a:r>
            <a:r>
              <a:rPr lang="fr-FR" b="1" dirty="0"/>
              <a:t>Data Platform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Séparation claire des responsabilités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Flux de données maîtrisé de bout en bout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66C553-CFB7-BB0D-323B-C40303620C49}"/>
              </a:ext>
            </a:extLst>
          </p:cNvPr>
          <p:cNvSpPr txBox="1"/>
          <p:nvPr/>
        </p:nvSpPr>
        <p:spPr>
          <a:xfrm>
            <a:off x="672485" y="104065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VISION GLOBALE DE L’ARCHITECTURE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AA6B37-0363-719D-000D-960D1DAC2B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367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355F9D7-3D67-DB72-E41E-485B9356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7B2D1AE-75B5-CC84-84AE-E8D47BA0BAB9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A89F54-40D6-60FB-F9FC-43892BC2BBC9}"/>
              </a:ext>
            </a:extLst>
          </p:cNvPr>
          <p:cNvSpPr txBox="1"/>
          <p:nvPr/>
        </p:nvSpPr>
        <p:spPr>
          <a:xfrm>
            <a:off x="672484" y="1697302"/>
            <a:ext cx="434666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Base transactionnelle PostgreSQL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Données structurées (produits, acheteurs, avis)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Données enrichies (images, métadonnées)</a:t>
            </a:r>
          </a:p>
        </p:txBody>
      </p:sp>
      <p:sp>
        <p:nvSpPr>
          <p:cNvPr id="6" name="AutoShape 4" descr="How to Design a Relational Database for E-commerce Website ...">
            <a:extLst>
              <a:ext uri="{FF2B5EF4-FFF2-40B4-BE49-F238E27FC236}">
                <a16:creationId xmlns:a16="http://schemas.microsoft.com/office/drawing/2014/main" id="{E8A5D419-81AC-8AE4-B324-6CA349FF10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2085109" cy="2085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F4B55AA-0910-F244-38A8-12F6A1A74E35}"/>
              </a:ext>
            </a:extLst>
          </p:cNvPr>
          <p:cNvSpPr txBox="1"/>
          <p:nvPr/>
        </p:nvSpPr>
        <p:spPr>
          <a:xfrm>
            <a:off x="672484" y="10422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SOURCES DE DONNÉES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3A81F70-DD1F-525B-6C58-0BC8C3B84D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387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C8B7255-68DC-20CC-9BBA-D090D39F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0948FD0-11FF-BF2E-3A80-643E662A28C7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AD58A80-EB66-61E8-085D-5C1505626977}"/>
              </a:ext>
            </a:extLst>
          </p:cNvPr>
          <p:cNvSpPr txBox="1"/>
          <p:nvPr/>
        </p:nvSpPr>
        <p:spPr>
          <a:xfrm>
            <a:off x="672485" y="1782954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Stockage des données brutes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Historisation des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Découplage source / analytique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FF86F0F-1876-719B-B2B5-28D4C175BDF2}"/>
              </a:ext>
            </a:extLst>
          </p:cNvPr>
          <p:cNvSpPr txBox="1"/>
          <p:nvPr/>
        </p:nvSpPr>
        <p:spPr>
          <a:xfrm>
            <a:off x="672485" y="106751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DATA LAKE : ZONE D’ATTERRISSAGE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286C01-1637-3442-1799-D1661566BC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25</a:t>
            </a:fld>
            <a:endParaRPr lang="fr-FR"/>
          </a:p>
        </p:txBody>
      </p:sp>
      <p:pic>
        <p:nvPicPr>
          <p:cNvPr id="7" name="Image 6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ACCCD161-E1FC-2E4C-495B-61A86F37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49834"/>
            <a:ext cx="4278639" cy="164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09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6ACBFEE8-1AE1-1490-70DE-CC4E387D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D3E0569-8795-A0B4-38A6-B81EBE3C1BD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62B3BA5-5997-163D-479B-31001F257B79}"/>
              </a:ext>
            </a:extLst>
          </p:cNvPr>
          <p:cNvSpPr txBox="1"/>
          <p:nvPr/>
        </p:nvSpPr>
        <p:spPr>
          <a:xfrm>
            <a:off x="672485" y="1524582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Bronze</a:t>
            </a:r>
            <a:r>
              <a:rPr lang="fr-FR" dirty="0"/>
              <a:t> : données brutes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Silver</a:t>
            </a:r>
            <a:r>
              <a:rPr lang="fr-FR" dirty="0"/>
              <a:t> : données nettoyées et enrichies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Gold</a:t>
            </a:r>
            <a:r>
              <a:rPr lang="fr-FR" dirty="0"/>
              <a:t> : données prêtes pour l’analyse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92FA89-87FC-E03D-8FA6-A35CD3D5AD9B}"/>
              </a:ext>
            </a:extLst>
          </p:cNvPr>
          <p:cNvSpPr txBox="1"/>
          <p:nvPr/>
        </p:nvSpPr>
        <p:spPr>
          <a:xfrm>
            <a:off x="672485" y="880707"/>
            <a:ext cx="51153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STRUCTURATION BRONZE / SILVER / GOLD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E9D3476-A692-1187-2E25-383EC41672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26</a:t>
            </a:fld>
            <a:endParaRPr lang="fr-FR"/>
          </a:p>
        </p:txBody>
      </p:sp>
      <p:pic>
        <p:nvPicPr>
          <p:cNvPr id="7" name="Image 6" descr="Une image contenant texte, logiciel, Logiciel multimédia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FF51E21-5298-BAEB-447D-6CDDB3229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72" y="1388532"/>
            <a:ext cx="3990414" cy="14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630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7D57082-C902-AA5B-0875-4BF811597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4B9ADF4-1805-CEF9-2D54-CA41FE063E5F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19AD21-E26D-B117-5DA2-CEE9E0318989}"/>
              </a:ext>
            </a:extLst>
          </p:cNvPr>
          <p:cNvSpPr txBox="1"/>
          <p:nvPr/>
        </p:nvSpPr>
        <p:spPr>
          <a:xfrm>
            <a:off x="637316" y="1529179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Centralisation des données analytiques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Optimisation des requêtes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Séparation stockage / calcul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5D3022-7349-4664-0FF3-95D4FA5361C9}"/>
              </a:ext>
            </a:extLst>
          </p:cNvPr>
          <p:cNvSpPr txBox="1"/>
          <p:nvPr/>
        </p:nvSpPr>
        <p:spPr>
          <a:xfrm>
            <a:off x="637316" y="86603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DATA WAREHOUSE ANALYTIQUE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04C745-1F9B-DD2E-CE00-01832BD127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27</a:t>
            </a:fld>
            <a:endParaRPr lang="fr-FR"/>
          </a:p>
        </p:txBody>
      </p:sp>
      <p:pic>
        <p:nvPicPr>
          <p:cNvPr id="7" name="Image 6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6C940E73-C0C6-2C7F-AA4C-F1E8A9AFD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393" y="3230761"/>
            <a:ext cx="4149214" cy="148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89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5EA8B96-D2D5-CABD-BE1B-39635B86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B374BF9-89FF-05AF-2BAB-AC6B8878EBC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04D4692-8B7F-CCA1-EDCD-5E7AD3D50EA0}"/>
              </a:ext>
            </a:extLst>
          </p:cNvPr>
          <p:cNvSpPr txBox="1"/>
          <p:nvPr/>
        </p:nvSpPr>
        <p:spPr>
          <a:xfrm>
            <a:off x="672485" y="1621947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fr-FR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Données rejetées stockées séparément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Journalisation des erreurs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Traçabilité des traitements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B14F552-9D89-2D68-CF73-51994759C6B6}"/>
              </a:ext>
            </a:extLst>
          </p:cNvPr>
          <p:cNvSpPr txBox="1"/>
          <p:nvPr/>
        </p:nvSpPr>
        <p:spPr>
          <a:xfrm>
            <a:off x="672485" y="895130"/>
            <a:ext cx="5140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GESTION DES DONNÉES NON CONFORMES</a:t>
            </a:r>
          </a:p>
          <a:p>
            <a:pPr>
              <a:buNone/>
            </a:pPr>
            <a:r>
              <a:rPr lang="fr-FR" b="1" dirty="0"/>
              <a:t>(Gestion des rejets et logs)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E5FE7E-A5EE-EE16-7DAD-18B36D4A4D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27632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BCC8E27-5E65-3FA7-0733-7FF7B111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CBDAE102-44D3-6A88-A4D4-83B7853FB01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C41676-6569-B062-41B5-68201E71EBD2}"/>
              </a:ext>
            </a:extLst>
          </p:cNvPr>
          <p:cNvSpPr txBox="1"/>
          <p:nvPr/>
        </p:nvSpPr>
        <p:spPr>
          <a:xfrm>
            <a:off x="384035" y="1707123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Enchaînement automatisé des traitements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Planification des tâches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Gestion des dépendances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E9FBA73-868E-F7BB-0498-5DEB6248E2C2}"/>
              </a:ext>
            </a:extLst>
          </p:cNvPr>
          <p:cNvSpPr txBox="1"/>
          <p:nvPr/>
        </p:nvSpPr>
        <p:spPr>
          <a:xfrm>
            <a:off x="384035" y="95500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ORCHESTRATION DES FLUX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A811A9-AE28-E275-CC75-73393E9E77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6180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A09122B-5499-359C-DE7A-1A6F69862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031507D-4C0E-D6DE-C153-FCDC44FE492F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F01B5A-1A6A-28D0-0444-EFF89ADAB821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Contrôle des accès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Traçabilité des transformations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Conformité réglementaire intégrée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E26632-634A-B4F2-85B2-B40FA8DE88B6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SÉCURITÉ &amp; TRAÇABILITÉ</a:t>
            </a:r>
          </a:p>
          <a:p>
            <a:pPr>
              <a:buNone/>
            </a:pPr>
            <a:r>
              <a:rPr lang="fr-FR" b="1" dirty="0"/>
              <a:t>(gouvernance)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1CDBB1-A184-7528-20AB-FC859526C2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9505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6F4CA05-7DBE-C359-B2F8-16231D9C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23A0E2B-8E9F-B7CC-382C-BABD8F2B419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D91E2AA-4234-E554-1B27-5E247C03EF75}"/>
              </a:ext>
            </a:extLst>
          </p:cNvPr>
          <p:cNvSpPr txBox="1"/>
          <p:nvPr/>
        </p:nvSpPr>
        <p:spPr>
          <a:xfrm>
            <a:off x="2149594" y="140219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Architecture cohérente et scalable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Séparation claire des rôles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Base solide pour les pipelines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1CB8B4-78FC-CB6C-6D2E-12BD9358EDCF}"/>
              </a:ext>
            </a:extLst>
          </p:cNvPr>
          <p:cNvSpPr txBox="1"/>
          <p:nvPr/>
        </p:nvSpPr>
        <p:spPr>
          <a:xfrm>
            <a:off x="2286000" y="122536"/>
            <a:ext cx="32807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u="sng" dirty="0"/>
              <a:t>Conclusion de la partie architecture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7741A1-4DF0-B28F-869C-9562A24D59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9800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563D7897-638E-3151-DFA2-0D4D59A41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7E89D77F-5194-5DC9-6349-E284B9CFF8B7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360DEEA2-407F-E31B-0A25-BA735CD95C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C7AE95F4-07DD-F5ED-E062-90B498493F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9218696-6BDE-F5F1-286F-FC56ADAFAA7E}"/>
              </a:ext>
            </a:extLst>
          </p:cNvPr>
          <p:cNvSpPr txBox="1"/>
          <p:nvPr/>
        </p:nvSpPr>
        <p:spPr>
          <a:xfrm>
            <a:off x="-38621" y="186755"/>
            <a:ext cx="922124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PARTIE 4 </a:t>
            </a:r>
          </a:p>
          <a:p>
            <a:pPr algn="ctr"/>
            <a:r>
              <a:rPr lang="fr-FR" sz="3200" b="1" u="sng" dirty="0"/>
              <a:t>Data Engineering &amp; pipelines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5C23EE0-13DB-F7CD-BAC8-4DD4C659B0B8}"/>
              </a:ext>
            </a:extLst>
          </p:cNvPr>
          <p:cNvSpPr txBox="1"/>
          <p:nvPr/>
        </p:nvSpPr>
        <p:spPr>
          <a:xfrm>
            <a:off x="6733330" y="4037904"/>
            <a:ext cx="2110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700" b="1" dirty="0"/>
              <a:t>Compétences RNCP mobilisées</a:t>
            </a:r>
          </a:p>
          <a:p>
            <a:pPr>
              <a:buNone/>
            </a:pPr>
            <a:endParaRPr lang="fr-FR" sz="700" b="1" dirty="0"/>
          </a:p>
          <a:p>
            <a:pPr>
              <a:buNone/>
            </a:pPr>
            <a:r>
              <a:rPr lang="fr-FR" sz="700" b="1" dirty="0"/>
              <a:t>C12 – C13 </a:t>
            </a:r>
          </a:p>
          <a:p>
            <a:pPr>
              <a:buNone/>
            </a:pPr>
            <a:r>
              <a:rPr lang="fr-FR" sz="700" b="1" dirty="0"/>
              <a:t>C18 – C19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78169A-7EE7-A945-6D9A-C0B410935547}"/>
              </a:ext>
            </a:extLst>
          </p:cNvPr>
          <p:cNvSpPr txBox="1"/>
          <p:nvPr/>
        </p:nvSpPr>
        <p:spPr>
          <a:xfrm>
            <a:off x="384035" y="2460074"/>
            <a:ext cx="49023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dirty="0"/>
              <a:t>Mettre en œuvre les pipelines de données automatisés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Garantir la qualité, la fiabilité et la traçabilité des données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Industrialiser les traitements et les flux data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F52E3A8-2B56-717E-F053-41AB3C31ED91}"/>
              </a:ext>
            </a:extLst>
          </p:cNvPr>
          <p:cNvSpPr txBox="1"/>
          <p:nvPr/>
        </p:nvSpPr>
        <p:spPr>
          <a:xfrm>
            <a:off x="2286000" y="12542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Objectifs de la partie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9644005-46A9-04BA-12D6-80D0D2A588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231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2FAE2BB-BCA8-C0D1-036E-4C6C19367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F518956-0CF3-6774-3E74-D460F1DF2832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0E2C7A0-DDB3-6C89-CB70-94DD18A970E3}"/>
              </a:ext>
            </a:extLst>
          </p:cNvPr>
          <p:cNvSpPr txBox="1"/>
          <p:nvPr/>
        </p:nvSpPr>
        <p:spPr>
          <a:xfrm>
            <a:off x="597122" y="1539346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Transformer des données brutes en données exploitables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Automatiser les traitements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Garantir la fiabilité et la qualité des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Préparer l’analyse et la restitution métier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A43582-96CD-D7E9-1450-D5983C1D6144}"/>
              </a:ext>
            </a:extLst>
          </p:cNvPr>
          <p:cNvSpPr txBox="1"/>
          <p:nvPr/>
        </p:nvSpPr>
        <p:spPr>
          <a:xfrm>
            <a:off x="597122" y="86480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RÔLE DU DATA ENGINEERING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A2FB0F-EC85-EB31-084B-C7EA60FA7A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797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719C51E-B13B-FC90-0427-660D588BB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952D9F0-23E1-5A98-A821-7D63027FDC8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2E72BA9-38E9-91DA-B576-BF49BEA33EE7}"/>
              </a:ext>
            </a:extLst>
          </p:cNvPr>
          <p:cNvSpPr txBox="1"/>
          <p:nvPr/>
        </p:nvSpPr>
        <p:spPr>
          <a:xfrm>
            <a:off x="672485" y="1260635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Base PostgreSQL transactionnelle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Tables cœur métier 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avis,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produits,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acheteurs,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fr-FR" dirty="0"/>
              <a:t>catégories,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Données structurées et semi-structurées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C8CF39-BC70-94AF-C33B-49F4D34B687F}"/>
              </a:ext>
            </a:extLst>
          </p:cNvPr>
          <p:cNvSpPr txBox="1"/>
          <p:nvPr/>
        </p:nvSpPr>
        <p:spPr>
          <a:xfrm>
            <a:off x="672485" y="7317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SOURCES &amp; VOLUMÉTRIE DE DONNEES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F4D35A-11BC-D902-C001-18AEB6751C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361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16A28A5-F4B2-38FA-2372-F3772FEA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578A431-6CB5-199B-B28C-272F7B72BFC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512D759-B04B-5193-07F0-2C1C4AF5F542}"/>
              </a:ext>
            </a:extLst>
          </p:cNvPr>
          <p:cNvSpPr txBox="1"/>
          <p:nvPr/>
        </p:nvSpPr>
        <p:spPr>
          <a:xfrm>
            <a:off x="572756" y="1707524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Extraction automatisée depuis PostgreSQL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Chargement vers le Data Lake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Gestion des dépendances entre tables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237E87-FD4D-90E5-9284-FB711FF86DF4}"/>
              </a:ext>
            </a:extLst>
          </p:cNvPr>
          <p:cNvSpPr txBox="1"/>
          <p:nvPr/>
        </p:nvSpPr>
        <p:spPr>
          <a:xfrm>
            <a:off x="572756" y="95520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STRATÉGIE D’INGESTION DES DONNEES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670C2EA-FD1E-B1AA-31FA-763B80A506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4927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C315370-3323-3926-B372-7D86D7A5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2DAED61-202E-548F-DC66-102167B0DCA9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980B749-D051-0CC9-B286-036B366066C3}"/>
              </a:ext>
            </a:extLst>
          </p:cNvPr>
          <p:cNvSpPr txBox="1"/>
          <p:nvPr/>
        </p:nvSpPr>
        <p:spPr>
          <a:xfrm>
            <a:off x="672485" y="1800300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Vérification des types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Gestion des valeurs manquantes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Détection des doublons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Validation des règles métier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82F8A6-D40D-7B48-BE32-62A5932550F4}"/>
              </a:ext>
            </a:extLst>
          </p:cNvPr>
          <p:cNvSpPr txBox="1"/>
          <p:nvPr/>
        </p:nvSpPr>
        <p:spPr>
          <a:xfrm>
            <a:off x="672485" y="89387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QUALITÉ DES DONNÉES</a:t>
            </a:r>
          </a:p>
          <a:p>
            <a:pPr>
              <a:buNone/>
            </a:pPr>
            <a:endParaRPr lang="fr-FR" b="1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1C5F952-5801-FC33-94AA-DA107F11E2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39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14B23F8-9932-2C71-DA9E-2963578B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A148516-4325-8236-82E6-783E414725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585" y="12476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B6F66A6-8875-FB9B-199B-8690FE2814A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7E03C8E-1FD6-A451-6A99-B08B131CD99E}"/>
              </a:ext>
            </a:extLst>
          </p:cNvPr>
          <p:cNvSpPr txBox="1"/>
          <p:nvPr/>
        </p:nvSpPr>
        <p:spPr>
          <a:xfrm>
            <a:off x="672485" y="192399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Jointures entre tables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Enrichissement des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Création de variables analytiques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Normalisation des formats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9CFECBF-1400-8AB3-C822-ED6BFCDCF542}"/>
              </a:ext>
            </a:extLst>
          </p:cNvPr>
          <p:cNvSpPr txBox="1"/>
          <p:nvPr/>
        </p:nvSpPr>
        <p:spPr>
          <a:xfrm>
            <a:off x="672485" y="10634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TRANSFORMATIONS CLÉS APPLIQUEES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F0BFD4-3BC8-9109-C757-5DB712E972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29366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47A415A-C74E-12AC-C7BA-A1B7CB3CB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BFB3F18-DCF4-4FFB-E772-D4BF77C6DDE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3E09A7B-2542-5290-A12F-0C8252E5995E}"/>
              </a:ext>
            </a:extLst>
          </p:cNvPr>
          <p:cNvSpPr txBox="1"/>
          <p:nvPr/>
        </p:nvSpPr>
        <p:spPr>
          <a:xfrm>
            <a:off x="672485" y="1923993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Séparation des données non conformes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Conservation des rejets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Journalisation des erreurs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E85C04-B5E2-3395-3397-230903161B32}"/>
              </a:ext>
            </a:extLst>
          </p:cNvPr>
          <p:cNvSpPr txBox="1"/>
          <p:nvPr/>
        </p:nvSpPr>
        <p:spPr>
          <a:xfrm>
            <a:off x="672485" y="10634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GESTION DES ERREURS &amp; REJETS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CB6803-0588-D0A6-2FF8-0EC30DD449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6696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43F535D-1D71-6918-A847-211024451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18DB5E5-EC36-FCC5-CB19-5CDC6069EFEB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3F6CEF-056D-B534-033D-DAB506E223E9}"/>
              </a:ext>
            </a:extLst>
          </p:cNvPr>
          <p:cNvSpPr txBox="1"/>
          <p:nvPr/>
        </p:nvSpPr>
        <p:spPr>
          <a:xfrm>
            <a:off x="672485" y="2140483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Planification des traitements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Gestion des dépendances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Relance automatique en cas d’échec</a:t>
            </a:r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2513E2F0-9C9B-09D1-D320-935B492774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358E06A-8301-8335-AAFB-741624F89E6F}"/>
              </a:ext>
            </a:extLst>
          </p:cNvPr>
          <p:cNvSpPr txBox="1"/>
          <p:nvPr/>
        </p:nvSpPr>
        <p:spPr>
          <a:xfrm>
            <a:off x="672485" y="117063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ORCHESTRATION AVEC AIRFLOW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931A19-8611-FB78-8164-D43DFD076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120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DA43CC0-9A34-11B2-E2B4-8A16BBE4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FF3B178-7AEC-0851-55A4-B1E48399E6E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AFFD5EA-F5E0-5270-4987-726551818594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Données nettoyées et structurées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Tables analytiques optimisées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Historisation des chargements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167AF23-1D07-AAD2-E085-2B0D6113734F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CHARGEMENT ANALYTIQUE</a:t>
            </a:r>
          </a:p>
          <a:p>
            <a:pPr>
              <a:buNone/>
            </a:pPr>
            <a:r>
              <a:rPr lang="fr-FR" b="1" dirty="0">
                <a:solidFill>
                  <a:srgbClr val="002060"/>
                </a:solidFill>
              </a:rPr>
              <a:t>(</a:t>
            </a:r>
            <a:r>
              <a:rPr lang="fr-FR" b="1" dirty="0" err="1">
                <a:solidFill>
                  <a:srgbClr val="002060"/>
                </a:solidFill>
              </a:rPr>
              <a:t>Snowflake</a:t>
            </a:r>
            <a:r>
              <a:rPr lang="fr-FR" b="1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BA538C-2414-5613-6A81-415DDF32F4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7700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96D1D49-D06B-0BBD-5338-FCE82CB9D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532AF18-A361-10C3-ACCB-39B9756D86C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D9221A7-19FF-0E58-7015-13F34EAF3410}"/>
              </a:ext>
            </a:extLst>
          </p:cNvPr>
          <p:cNvSpPr txBox="1"/>
          <p:nvPr/>
        </p:nvSpPr>
        <p:spPr>
          <a:xfrm>
            <a:off x="672485" y="192399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Tests unitaires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Tests fonctionnels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Vérification des volumes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Contrôle des résultats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3F5EBAB-7EC7-5F97-D8BA-C9782E65215E}"/>
              </a:ext>
            </a:extLst>
          </p:cNvPr>
          <p:cNvSpPr txBox="1"/>
          <p:nvPr/>
        </p:nvSpPr>
        <p:spPr>
          <a:xfrm>
            <a:off x="672485" y="10634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TESTS &amp; VALIDATION DES PIPELINES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67764D-CD98-4630-9257-DC1FE410BC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265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D7DCA2F-4949-1235-A465-28D449B8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14ECB9C-EAA8-AA8C-089A-FDBAE2D78725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B4C511-A9A4-377E-1CD4-65006A5A7B06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Pipelines reproductibles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Documentation technique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Préparation à la montée en charge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F841BD8-FCDA-C7EC-8753-90BDE0339FE6}"/>
              </a:ext>
            </a:extLst>
          </p:cNvPr>
          <p:cNvSpPr txBox="1"/>
          <p:nvPr/>
        </p:nvSpPr>
        <p:spPr>
          <a:xfrm>
            <a:off x="672485" y="11711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/>
              <a:t>ROBUSTESSE &amp; INDUSTRIALISATION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6CC39F-7ED8-FAB5-ACFD-4306094AD5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8921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4B761F0-D452-7EF8-5610-EE8FB269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49B1704-524E-4D4F-4B0C-6021FD877D8E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591644D-12BE-BE5D-9D6D-C29C042285D8}"/>
              </a:ext>
            </a:extLst>
          </p:cNvPr>
          <p:cNvSpPr txBox="1"/>
          <p:nvPr/>
        </p:nvSpPr>
        <p:spPr>
          <a:xfrm>
            <a:off x="1576836" y="140219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Données fiables et prêtes à l’analyse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Pipelines automatisés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Base solide pour la valorisation métier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D102D5F-25A9-E4A6-4892-CE01D7E28AB6}"/>
              </a:ext>
            </a:extLst>
          </p:cNvPr>
          <p:cNvSpPr txBox="1"/>
          <p:nvPr/>
        </p:nvSpPr>
        <p:spPr>
          <a:xfrm>
            <a:off x="2969288" y="124760"/>
            <a:ext cx="30898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u="sng" dirty="0"/>
              <a:t>Conclusion Data Engineering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CB8329-27EC-1034-2CAA-5FCE2C49F6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34921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0C400F0F-4172-86A4-5017-A4BC05843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69D99210-BCED-6C42-CA29-4B87A47F2C7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E57E8699-6DBF-3578-A2FA-909AD2BDF5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94C46CA0-519C-DE7F-B9C9-A17BB809A7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F943D10-EEF3-1394-B486-D751A1AE4AC8}"/>
              </a:ext>
            </a:extLst>
          </p:cNvPr>
          <p:cNvSpPr txBox="1"/>
          <p:nvPr/>
        </p:nvSpPr>
        <p:spPr>
          <a:xfrm>
            <a:off x="-38621" y="186755"/>
            <a:ext cx="922124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PARTIE 5 </a:t>
            </a:r>
          </a:p>
          <a:p>
            <a:pPr algn="ctr"/>
            <a:r>
              <a:rPr lang="fr-FR" sz="3200" b="1" u="sng" dirty="0"/>
              <a:t>Analyse avancée des avis &amp; NLP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9072D4-9808-B29B-98C8-66653483A4D1}"/>
              </a:ext>
            </a:extLst>
          </p:cNvPr>
          <p:cNvSpPr txBox="1"/>
          <p:nvPr/>
        </p:nvSpPr>
        <p:spPr>
          <a:xfrm>
            <a:off x="6733330" y="4037904"/>
            <a:ext cx="2110224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700" b="1" dirty="0"/>
              <a:t>Compétences RNCP mobilisées</a:t>
            </a:r>
          </a:p>
          <a:p>
            <a:pPr>
              <a:buNone/>
            </a:pPr>
            <a:endParaRPr lang="fr-FR" sz="700" b="1" dirty="0"/>
          </a:p>
          <a:p>
            <a:pPr>
              <a:buNone/>
            </a:pPr>
            <a:r>
              <a:rPr lang="fr-FR" sz="700" b="1" dirty="0"/>
              <a:t>C7 </a:t>
            </a:r>
          </a:p>
          <a:p>
            <a:pPr>
              <a:buNone/>
            </a:pPr>
            <a:r>
              <a:rPr lang="fr-FR" sz="700" b="1" dirty="0"/>
              <a:t>C16</a:t>
            </a:r>
          </a:p>
          <a:p>
            <a:pPr>
              <a:buNone/>
            </a:pPr>
            <a:r>
              <a:rPr lang="fr-FR" sz="700" b="1" dirty="0"/>
              <a:t>C17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8E4A047-4958-7B0B-B1AA-9E5361A077B9}"/>
              </a:ext>
            </a:extLst>
          </p:cNvPr>
          <p:cNvSpPr txBox="1"/>
          <p:nvPr/>
        </p:nvSpPr>
        <p:spPr>
          <a:xfrm>
            <a:off x="384035" y="2460074"/>
            <a:ext cx="490238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dirty="0"/>
              <a:t>Analyser les avis clients à partir des données textuelles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Mettre en place un </a:t>
            </a:r>
            <a:r>
              <a:rPr lang="fr-FR" dirty="0" err="1"/>
              <a:t>scoring</a:t>
            </a:r>
            <a:r>
              <a:rPr lang="fr-FR" dirty="0"/>
              <a:t> de pertinence des avis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 Exploiter le NLP pour produire de la valeur métier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365428-6D22-255D-0B1E-EA4720DADCDB}"/>
              </a:ext>
            </a:extLst>
          </p:cNvPr>
          <p:cNvSpPr txBox="1"/>
          <p:nvPr/>
        </p:nvSpPr>
        <p:spPr>
          <a:xfrm>
            <a:off x="2286000" y="12542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Objectifs de la partie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F6A612-1C8E-B9D3-B17C-7E7B0AC900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0078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BCF9590-FD4A-EB1E-D862-FE382CFB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8822400-1E6A-66E3-14B7-92F30E2A1DCF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B1EC049-D14B-D1BC-7120-75AA6F0A2CE9}"/>
              </a:ext>
            </a:extLst>
          </p:cNvPr>
          <p:cNvSpPr txBox="1"/>
          <p:nvPr/>
        </p:nvSpPr>
        <p:spPr>
          <a:xfrm>
            <a:off x="672485" y="192399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Les notes seules sont insuffisantes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Les commentaires contiennent des signaux riches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Le texte permet d’expliquer la note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Forte valeur pour les équipes produit et qualité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BF0FA17-8B16-E784-93BB-690E1DFCFBB2}"/>
              </a:ext>
            </a:extLst>
          </p:cNvPr>
          <p:cNvSpPr txBox="1"/>
          <p:nvPr/>
        </p:nvSpPr>
        <p:spPr>
          <a:xfrm>
            <a:off x="672485" y="10634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POURQUOI L’ANALYSE DES AVIS TEXTUELS ?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3B5D62-D620-36A6-A79B-50B2831364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94254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671870D4-473B-6265-FD45-76586F4C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026B88F-450E-BAFA-F524-181565B21605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95662EE-DDBE-0875-FD4C-3DAD57253EC3}"/>
              </a:ext>
            </a:extLst>
          </p:cNvPr>
          <p:cNvSpPr txBox="1"/>
          <p:nvPr/>
        </p:nvSpPr>
        <p:spPr>
          <a:xfrm>
            <a:off x="672485" y="192399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Identifier les avis réellement utiles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Hiérarchiser les avis par pertinence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Extraire des tendances et signaux faibles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Aider à la prise de décision produit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FD410E-611C-DE31-ACCD-EF8879DDFDC3}"/>
              </a:ext>
            </a:extLst>
          </p:cNvPr>
          <p:cNvSpPr txBox="1"/>
          <p:nvPr/>
        </p:nvSpPr>
        <p:spPr>
          <a:xfrm>
            <a:off x="672485" y="106344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/>
              <a:t>OBJECTIFS DE L’ANALYSE NLP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8FC45BC-6EEF-A9D6-6257-09186620B9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2340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71238DB-C0B1-F3B0-145E-1D7AA1A97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D7BA459-E574-9222-3566-D0479BBD988F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1212CE0-4315-AC05-2B90-22EAD22EDB65}"/>
              </a:ext>
            </a:extLst>
          </p:cNvPr>
          <p:cNvSpPr txBox="1"/>
          <p:nvPr/>
        </p:nvSpPr>
        <p:spPr>
          <a:xfrm>
            <a:off x="672485" y="2031714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Nettoyage du contenu textuel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Suppression des éléments non pertinents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Calcul de métriques (longueur, présence d’images, achat confirmé)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94DDF4A-B01E-C4C0-F36B-897778CF29D4}"/>
              </a:ext>
            </a:extLst>
          </p:cNvPr>
          <p:cNvSpPr txBox="1"/>
          <p:nvPr/>
        </p:nvSpPr>
        <p:spPr>
          <a:xfrm>
            <a:off x="672485" y="11173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PRÉPARATION DES DONNÉES TEXTUELLES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033638-123C-6D8D-B6D2-EEB5AD6559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619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6296883D-27CD-9CA3-70AC-289E27D8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7201A30A-87C6-0A2D-D3A4-86D79AAFCA3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8A9539E-CA55-9507-A635-C34281399639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Combinaison de plusieurs critères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Pondération selon leur importance métier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Score final compris entre 0 et 100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9E033EC-B3CA-BD92-C489-6D603A373D8C}"/>
              </a:ext>
            </a:extLst>
          </p:cNvPr>
          <p:cNvSpPr txBox="1"/>
          <p:nvPr/>
        </p:nvSpPr>
        <p:spPr>
          <a:xfrm>
            <a:off x="672485" y="11711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APPROCHE DE SCORING DE PERTINENCE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47FDC8-DE3B-B0D0-26FD-0F0C92BEC5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97443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FA18FA6-BA29-3B0A-392F-01E85E3B5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82F65F0-1D96-B0DF-C388-199EE101207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321B7A-1636-5FF0-B8E8-EA70A91C1C60}"/>
              </a:ext>
            </a:extLst>
          </p:cNvPr>
          <p:cNvSpPr txBox="1"/>
          <p:nvPr/>
        </p:nvSpPr>
        <p:spPr>
          <a:xfrm>
            <a:off x="672485" y="2141701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Longueur du commentaire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Présence d’une image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Achat vérifié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Note extrême (1 ou 5 étoiles)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Contenu textuel (mots clés, sentiment)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39403DA-B7FB-22B2-1C9C-6B229B2593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17F1A3F-F726-AA0F-8F90-2AB529E12826}"/>
              </a:ext>
            </a:extLst>
          </p:cNvPr>
          <p:cNvSpPr txBox="1"/>
          <p:nvPr/>
        </p:nvSpPr>
        <p:spPr>
          <a:xfrm>
            <a:off x="672485" y="1172294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CRITÈRES UTILISÉS DANS LE SCORING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B89696-53C8-59C0-FB4C-15C1D13119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9287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4BFE6FD-6BF5-6BB8-0D3E-2A0157297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A0F1BA4-D8A7-843A-7D25-0D1FF4F08BF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C1A9C1-9F69-BC7D-EE69-5529DE704173}"/>
              </a:ext>
            </a:extLst>
          </p:cNvPr>
          <p:cNvSpPr txBox="1"/>
          <p:nvPr/>
        </p:nvSpPr>
        <p:spPr>
          <a:xfrm>
            <a:off x="672485" y="1819632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Utilisation d’un modèle de sentiment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Détection du ton général de l’avis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Complément de la note chiffrée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36ADFFB-2AFC-0905-88E9-A408A798D617}"/>
              </a:ext>
            </a:extLst>
          </p:cNvPr>
          <p:cNvSpPr txBox="1"/>
          <p:nvPr/>
        </p:nvSpPr>
        <p:spPr>
          <a:xfrm>
            <a:off x="672485" y="101125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ANALYSE DE SENTIMENT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365BE7-F7D7-51E7-1C61-058CC11077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3275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4DFD0FB-540F-4D8D-100D-4A3D7E792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A4A67180-9CB1-9C3C-FEEA-076DC694E07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5503CE-6855-0DC7-F9C9-13EDFB3AA9D6}"/>
              </a:ext>
            </a:extLst>
          </p:cNvPr>
          <p:cNvSpPr txBox="1"/>
          <p:nvPr/>
        </p:nvSpPr>
        <p:spPr>
          <a:xfrm>
            <a:off x="672485" y="2139437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Pas de données d’entraînement spécifiques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Adaptable à de nouveaux thèmes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Rapide à déployer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7F7D97-52DA-A7D6-5214-AA2B7C9196D4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APPROCHE ZERO-SHOT </a:t>
            </a:r>
          </a:p>
          <a:p>
            <a:pPr>
              <a:buNone/>
            </a:pPr>
            <a:r>
              <a:rPr lang="fr-FR" b="1" dirty="0"/>
              <a:t>Classification </a:t>
            </a:r>
            <a:r>
              <a:rPr lang="fr-FR" b="1" dirty="0" err="1"/>
              <a:t>Zero</a:t>
            </a:r>
            <a:r>
              <a:rPr lang="fr-FR" b="1" dirty="0"/>
              <a:t>-Shot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FFE3AC-37D6-59F4-0E29-AD1553140C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72717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A61C879-2CEA-D936-639C-0E0EDF6D8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0D4BA9F-4730-4683-4F15-697F559EA166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D7B5B6D-7319-0207-D7A2-A1D0D2640D8D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Hiérarchisation claire des avis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Identification des avis à forte valeur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Réduction du bruit informationnel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3A2FE8F-8D61-80E7-0F1A-88C1E7FECE40}"/>
              </a:ext>
            </a:extLst>
          </p:cNvPr>
          <p:cNvSpPr txBox="1"/>
          <p:nvPr/>
        </p:nvSpPr>
        <p:spPr>
          <a:xfrm>
            <a:off x="672485" y="11711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RÉSULTATS OBTENUS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27B259-EBE8-7244-B3ED-CF9DD6BA6F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8429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09FEEDB-20B9-5317-60D0-BFECF629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D906BD3-0169-F807-E513-0E2B47E5158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5550DF3-7827-8CB3-0026-E2F88D3FBEB1}"/>
              </a:ext>
            </a:extLst>
          </p:cNvPr>
          <p:cNvSpPr txBox="1"/>
          <p:nvPr/>
        </p:nvSpPr>
        <p:spPr>
          <a:xfrm>
            <a:off x="622244" y="2263971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Tableaux analytiques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Indicateurs clés par produit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Aide à la décision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7978105-8EB3-90E2-F3CF-F3032C69AA94}"/>
              </a:ext>
            </a:extLst>
          </p:cNvPr>
          <p:cNvSpPr txBox="1"/>
          <p:nvPr/>
        </p:nvSpPr>
        <p:spPr>
          <a:xfrm>
            <a:off x="622244" y="12334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RESTITUTION MÉTIER ET VISUALISATION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EA7FF7-AD20-EF78-DB16-48B49E29B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58394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632D7F2-89E1-E9A4-6AB3-C6A88727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FAC6272-EFF9-4F80-02BA-9AC2E672934E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40BB1F-A91F-75B4-21AF-AA686F44173F}"/>
              </a:ext>
            </a:extLst>
          </p:cNvPr>
          <p:cNvSpPr txBox="1"/>
          <p:nvPr/>
        </p:nvSpPr>
        <p:spPr>
          <a:xfrm>
            <a:off x="672485" y="9081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LIMITES &amp; AXES D’AMÉLIORATION</a:t>
            </a:r>
          </a:p>
          <a:p>
            <a:pPr>
              <a:buNone/>
            </a:pPr>
            <a:endParaRPr lang="fr-FR" b="1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BD0881C-8492-BCD1-EB77-BB9BB20EF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725624"/>
              </p:ext>
            </p:extLst>
          </p:nvPr>
        </p:nvGraphicFramePr>
        <p:xfrm>
          <a:off x="672485" y="1828790"/>
          <a:ext cx="6096000" cy="203454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63090626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577417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Limites identifiées</a:t>
                      </a:r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b="1" dirty="0"/>
                        <a:t>Améliorations possibles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004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fr-FR" dirty="0"/>
                        <a:t>Dépendance à la qualité du texte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fr-FR" dirty="0"/>
                        <a:t>Pondérations perfectibles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fr-FR" dirty="0"/>
                        <a:t>Volume de données limité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fr-FR" dirty="0"/>
                    </a:p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fr-FR" dirty="0"/>
                        <a:t>Modèles NLP plus avancés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fr-FR" dirty="0"/>
                        <a:t>Apprentissage supervisé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endParaRPr lang="fr-FR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fr-FR" dirty="0"/>
                        <a:t>Feedback utilisateur</a:t>
                      </a:r>
                    </a:p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088841"/>
                  </a:ext>
                </a:extLst>
              </a:tr>
            </a:tbl>
          </a:graphicData>
        </a:graphic>
      </p:graphicFrame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CDCEAA-B79B-0148-596E-233B95004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95242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8EF8EFD-53BE-4E71-5427-0EB52C87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1BD8790-D6F8-23C5-73A5-FC7CECFC5CA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0C3A902-AC40-479E-7C0C-251945B72086}"/>
              </a:ext>
            </a:extLst>
          </p:cNvPr>
          <p:cNvSpPr txBox="1"/>
          <p:nvPr/>
        </p:nvSpPr>
        <p:spPr>
          <a:xfrm>
            <a:off x="2049108" y="971312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fr-FR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Valeur métier concrète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Aide à la décision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Résultats exploitables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475BB8F-82CD-1BAA-7B84-057882A6D03E}"/>
              </a:ext>
            </a:extLst>
          </p:cNvPr>
          <p:cNvSpPr txBox="1"/>
          <p:nvPr/>
        </p:nvSpPr>
        <p:spPr>
          <a:xfrm>
            <a:off x="2286000" y="12476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u="sng" dirty="0">
                <a:solidFill>
                  <a:srgbClr val="002060"/>
                </a:solidFill>
              </a:rPr>
              <a:t>Conclusion Analyse &amp; NLP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C1FEBBD-8B49-EA6A-A69A-48FA130EA8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92199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7A12DBA8-FEAD-54CA-0C0D-4C705F2A5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FC94A66B-6A02-11D0-5075-1CD4FEAD1449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C1E78D8F-5DD7-3190-0CB8-39197944BD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9A532DEA-6F21-92A6-6CA1-232370F2F5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CBF637F-0E0A-2F2F-3DC9-AF5DB5AE75BC}"/>
              </a:ext>
            </a:extLst>
          </p:cNvPr>
          <p:cNvSpPr txBox="1"/>
          <p:nvPr/>
        </p:nvSpPr>
        <p:spPr>
          <a:xfrm>
            <a:off x="-38621" y="186755"/>
            <a:ext cx="922124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PARTIE 6 </a:t>
            </a:r>
          </a:p>
          <a:p>
            <a:pPr algn="ctr"/>
            <a:r>
              <a:rPr lang="fr-FR" sz="3200" b="1" u="sng" dirty="0"/>
              <a:t>Gouvernance, déploiement &amp; pilotage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F91E38-961B-ABB4-1701-4235F40A02CE}"/>
              </a:ext>
            </a:extLst>
          </p:cNvPr>
          <p:cNvSpPr txBox="1"/>
          <p:nvPr/>
        </p:nvSpPr>
        <p:spPr>
          <a:xfrm>
            <a:off x="6733330" y="4037904"/>
            <a:ext cx="21102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700" b="1" dirty="0"/>
              <a:t>Compétences RNCP mobilisées</a:t>
            </a:r>
          </a:p>
          <a:p>
            <a:pPr>
              <a:buNone/>
            </a:pPr>
            <a:endParaRPr lang="fr-FR" sz="700" b="1" dirty="0"/>
          </a:p>
          <a:p>
            <a:pPr>
              <a:buNone/>
            </a:pPr>
            <a:r>
              <a:rPr lang="fr-FR" sz="700" b="1" dirty="0"/>
              <a:t>C20 – C32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D349478-C032-713F-297A-F8C46A5640BD}"/>
              </a:ext>
            </a:extLst>
          </p:cNvPr>
          <p:cNvSpPr txBox="1"/>
          <p:nvPr/>
        </p:nvSpPr>
        <p:spPr>
          <a:xfrm>
            <a:off x="384035" y="2460074"/>
            <a:ext cx="7313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dirty="0"/>
              <a:t>Assurer la gouvernance et la conformité réglementaire des données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Déployer, superviser et maintenir la solution data</a:t>
            </a:r>
          </a:p>
          <a:p>
            <a:pPr marL="400050" indent="-400050">
              <a:buFont typeface="+mj-lt"/>
              <a:buAutoNum type="romanUcPeriod"/>
            </a:pPr>
            <a:endParaRPr lang="fr-FR" dirty="0"/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Piloter le projet, les ressources et les risques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9C3DA72-0F64-4E3D-B442-16EDA8960A73}"/>
              </a:ext>
            </a:extLst>
          </p:cNvPr>
          <p:cNvSpPr txBox="1"/>
          <p:nvPr/>
        </p:nvSpPr>
        <p:spPr>
          <a:xfrm>
            <a:off x="2286000" y="12542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Objectifs de la partie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19AED579-E290-028C-3FD7-0C48184120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20201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B1DBFF0-677F-7784-AA2B-D609047B0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92ECE606-A4DC-A4EC-C2FE-D6A73DA8AA3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C5E1180-7842-0A3C-4E1D-6FAC3A964E2F}"/>
              </a:ext>
            </a:extLst>
          </p:cNvPr>
          <p:cNvSpPr txBox="1"/>
          <p:nvPr/>
        </p:nvSpPr>
        <p:spPr>
          <a:xfrm>
            <a:off x="672485" y="1923993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Fiabilité et confiance dans les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Sécurité et conformité réglementaire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Pérennité de la solution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Adoption par les utilisateurs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54459C6-7A07-7A5F-67C8-BFCD94E4E711}"/>
              </a:ext>
            </a:extLst>
          </p:cNvPr>
          <p:cNvSpPr txBox="1"/>
          <p:nvPr/>
        </p:nvSpPr>
        <p:spPr>
          <a:xfrm>
            <a:off x="672485" y="95571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POURQUOI LA GOUVERNANCE ?</a:t>
            </a:r>
          </a:p>
          <a:p>
            <a:pPr>
              <a:buNone/>
            </a:pPr>
            <a:r>
              <a:rPr lang="fr-FR" b="1" dirty="0"/>
              <a:t>Enjeux de gouvernance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376212-4F4F-D38F-CCCE-390B06C9C9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51948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834D244-B24E-73CA-0C12-6D562BF7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BD3131C2-AC9C-D744-10AE-49C3FF5ED89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EA67CD-B88B-51F3-7CBD-613BD4804DB5}"/>
              </a:ext>
            </a:extLst>
          </p:cNvPr>
          <p:cNvSpPr txBox="1"/>
          <p:nvPr/>
        </p:nvSpPr>
        <p:spPr>
          <a:xfrm>
            <a:off x="672485" y="1923993"/>
            <a:ext cx="50910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RGPD</a:t>
            </a:r>
            <a:r>
              <a:rPr lang="fr-FR" dirty="0"/>
              <a:t> : minimisation, anonymisation, droits des personnes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CCPA</a:t>
            </a:r>
            <a:r>
              <a:rPr lang="fr-FR" dirty="0"/>
              <a:t> : droit à l’information et à la suppression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AI </a:t>
            </a:r>
            <a:r>
              <a:rPr lang="fr-FR" b="1" dirty="0" err="1"/>
              <a:t>Act</a:t>
            </a:r>
            <a:r>
              <a:rPr lang="fr-FR" dirty="0"/>
              <a:t> : transparence et responsabilité des systèmes IA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dirty="0"/>
              <a:t>RSE</a:t>
            </a:r>
            <a:r>
              <a:rPr lang="fr-FR" dirty="0"/>
              <a:t> : IA éthique et sobre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9673F0E-602C-6567-E40F-D5E6F64C3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80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8D722478-C130-3B47-FDDB-EB160B9610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80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94C1BA5F-4EE5-2D5C-7A25-F55A1477C4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B49B52E-F4CC-6304-DFAC-EEDB42F6B577}"/>
              </a:ext>
            </a:extLst>
          </p:cNvPr>
          <p:cNvSpPr txBox="1"/>
          <p:nvPr/>
        </p:nvSpPr>
        <p:spPr>
          <a:xfrm>
            <a:off x="672485" y="95571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CONFORMITÉ RÉGLEMENTAIRE</a:t>
            </a:r>
          </a:p>
          <a:p>
            <a:pPr>
              <a:buNone/>
            </a:pPr>
            <a:r>
              <a:rPr lang="fr-FR" b="1" dirty="0"/>
              <a:t>Cadre réglementaire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688D8342-9EDE-5783-CBFC-13DCFBFD78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6171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1AB74C6-CD52-27A1-DAFC-04389A2C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D62BE7F9-575B-34D2-F4BD-8B4D3C61FAEA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4D4315E3-7B02-8CD5-6EE3-1F4137EE7D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70364" y="2419349"/>
            <a:ext cx="2854036" cy="2201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063B4F8-FB5A-0580-A940-9377003F5024}"/>
              </a:ext>
            </a:extLst>
          </p:cNvPr>
          <p:cNvSpPr txBox="1"/>
          <p:nvPr/>
        </p:nvSpPr>
        <p:spPr>
          <a:xfrm>
            <a:off x="672485" y="241934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Gestion des rôles et habilitations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Séparation des environnements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Traçabilité des accès et traitements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5FDA6C-FC35-D325-6D91-60976FBAFA1B}"/>
              </a:ext>
            </a:extLst>
          </p:cNvPr>
          <p:cNvSpPr txBox="1"/>
          <p:nvPr/>
        </p:nvSpPr>
        <p:spPr>
          <a:xfrm>
            <a:off x="672485" y="157885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SÉCURITÉ &amp; ACCÈS AUX DONNÉES</a:t>
            </a:r>
          </a:p>
          <a:p>
            <a:pPr>
              <a:buNone/>
            </a:pPr>
            <a:r>
              <a:rPr lang="fr-FR" b="1" dirty="0"/>
              <a:t>Sécurité des données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710B56-8AA7-C4C7-D5F3-C32E78A177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31765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C1EF3F3-24D3-A9E3-E563-99045B64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E6B71F2-01A5-AACB-C269-60D6B79D6F9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F1092EC-2514-D545-7DE8-1DAF63E5EE4C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Règles de validation documentées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Suivi des anomalies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Historisation des transformations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7FC24C-A6D2-5229-D4C5-A123729270C2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QUALITÉ &amp; TRAÇABILITÉ</a:t>
            </a:r>
          </a:p>
          <a:p>
            <a:pPr>
              <a:buNone/>
            </a:pPr>
            <a:r>
              <a:rPr lang="fr-FR" b="1" dirty="0"/>
              <a:t>Qualité des données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F2C431-304C-9E00-B393-F797ADC3D0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0963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680F378-D047-0AA5-F008-6881FBD7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B64B7CF-A829-92C0-5469-BB0C8EE3E9B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F93DFF-4BAB-B6E8-E372-564B2AA7C380}"/>
              </a:ext>
            </a:extLst>
          </p:cNvPr>
          <p:cNvSpPr txBox="1"/>
          <p:nvPr/>
        </p:nvSpPr>
        <p:spPr>
          <a:xfrm>
            <a:off x="672485" y="2138592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Pipelines automatisés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Environnements séparés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Déploiement progressif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1B9A6F9-C299-FB46-B2A5-212AD630CA6D}"/>
              </a:ext>
            </a:extLst>
          </p:cNvPr>
          <p:cNvSpPr txBox="1"/>
          <p:nvPr/>
        </p:nvSpPr>
        <p:spPr>
          <a:xfrm>
            <a:off x="672485" y="106217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MISE EN PRODUCTION</a:t>
            </a:r>
          </a:p>
          <a:p>
            <a:pPr>
              <a:buNone/>
            </a:pPr>
            <a:r>
              <a:rPr lang="fr-FR" b="1" dirty="0"/>
              <a:t>Déploiement de la solution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6EB4E1-4215-B1EA-D7F7-E9AF5E66C0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5828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29688A3-128A-FB54-9C02-25D9CED4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08D9CA5F-E1D1-8D8A-1315-4CBA4C868296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F69A74E-CC17-14B3-5C49-7095E8FD0B8B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Supervision des pipelines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Gestion des incidents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Procédures de support documentées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7BE8F6E-C192-7411-9E39-97EA02B2DC7E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SUPERVISION &amp; SUPPORT</a:t>
            </a:r>
          </a:p>
          <a:p>
            <a:pPr>
              <a:buNone/>
            </a:pPr>
            <a:r>
              <a:rPr lang="fr-FR" b="1" dirty="0"/>
              <a:t>Exploitation &amp; support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FC8417-36C1-C8E5-4E2F-092AA56100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18238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68CED4A-FFAE-5346-DFD9-A91199F2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7239759-522A-CE5A-8497-0AAC376B018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C529DCC-6992-0E62-D2DB-82A77524DF75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Maintenance corrective et évolutive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Anticipation de la montée en charge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Ajout de nouveaux cas d’usage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1C6B892-46BA-BF17-7CF2-CF40AC9C89A7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MAINTENANCE &amp; ÉVOLUTIVITÉ</a:t>
            </a:r>
          </a:p>
          <a:p>
            <a:pPr>
              <a:buNone/>
            </a:pPr>
            <a:r>
              <a:rPr lang="fr-FR" b="1" dirty="0"/>
              <a:t>Maintien en conditions opérationnelles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4B01B7-B296-9DDD-5F13-B8BD330D4C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464373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FB57440-D5BD-9073-02FB-A92F25FA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0775A66D-CB6E-0EDC-1392-88A4C7A5DE67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C91B99B-B98C-C26C-5F34-F1E2940BBE29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Planification des phases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Suivi des livrables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Coordination des acteurs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02F6588-0562-6D9E-138B-0B0DDFC59FED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PILOTAGE DU PROJET</a:t>
            </a:r>
          </a:p>
          <a:p>
            <a:pPr>
              <a:buNone/>
            </a:pPr>
            <a:r>
              <a:rPr lang="fr-FR" b="1" dirty="0"/>
              <a:t>Pilotage &amp; organisation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D0E2AD-A970-6C03-BD62-F3F49B508F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5101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B10C671-8BDB-4B15-EB9C-CFEEF7DD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E6C7DB9-7923-D0E7-CB18-8F9958C56B18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9EA0731-61E7-DB54-67F6-39F6E2C182C8}"/>
              </a:ext>
            </a:extLst>
          </p:cNvPr>
          <p:cNvSpPr txBox="1"/>
          <p:nvPr/>
        </p:nvSpPr>
        <p:spPr>
          <a:xfrm>
            <a:off x="672485" y="2031714"/>
            <a:ext cx="34646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Choix technologiques maîtrisés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Priorité aux solutions open source / optimisées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Arbitrage coûts / valeur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847001C-040F-25AC-C8BB-E1F4AC68BE9F}"/>
              </a:ext>
            </a:extLst>
          </p:cNvPr>
          <p:cNvSpPr txBox="1"/>
          <p:nvPr/>
        </p:nvSpPr>
        <p:spPr>
          <a:xfrm>
            <a:off x="672485" y="100957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BUDGET &amp; RESSOURCES</a:t>
            </a:r>
          </a:p>
          <a:p>
            <a:pPr>
              <a:buNone/>
            </a:pPr>
            <a:r>
              <a:rPr lang="fr-FR" b="1" dirty="0"/>
              <a:t>Gestion des ressources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B13E70-8975-2B67-6631-51FE538777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4585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5FEE6D9-E5FE-29F8-8212-C98CBB0FA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BD9F61E-F882-3622-D960-27D30CBFAC34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1E378BE-FD1F-E212-AB5E-27CD873D37C9}"/>
              </a:ext>
            </a:extLst>
          </p:cNvPr>
          <p:cNvSpPr txBox="1"/>
          <p:nvPr/>
        </p:nvSpPr>
        <p:spPr>
          <a:xfrm>
            <a:off x="672485" y="2139436"/>
            <a:ext cx="371994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Documentation claire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Accompagnement des équipes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Sensibilisation à l’usage des données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57ECA32-4FF2-EC1F-22AD-C6863033767F}"/>
              </a:ext>
            </a:extLst>
          </p:cNvPr>
          <p:cNvSpPr txBox="1"/>
          <p:nvPr/>
        </p:nvSpPr>
        <p:spPr>
          <a:xfrm>
            <a:off x="672485" y="106344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CONDUITE DU CHANGEMENT</a:t>
            </a:r>
          </a:p>
          <a:p>
            <a:pPr>
              <a:buNone/>
            </a:pPr>
            <a:r>
              <a:rPr lang="fr-FR" b="1" dirty="0"/>
              <a:t>Adoption par les utilisateurs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FB4380-C908-6817-D60B-D5067FCED6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95011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80000"/>
          </a:schemeClr>
        </a:solidFill>
        <a:effectLst/>
      </p:bgPr>
    </p:bg>
    <p:spTree>
      <p:nvGrpSpPr>
        <p:cNvPr id="1" name="Shape 67">
          <a:extLst>
            <a:ext uri="{FF2B5EF4-FFF2-40B4-BE49-F238E27FC236}">
              <a16:creationId xmlns:a16="http://schemas.microsoft.com/office/drawing/2014/main" id="{E8D20BFF-7C5D-F9D3-EDFF-B761B3F36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6;p15">
            <a:extLst>
              <a:ext uri="{FF2B5EF4-FFF2-40B4-BE49-F238E27FC236}">
                <a16:creationId xmlns:a16="http://schemas.microsoft.com/office/drawing/2014/main" id="{F45F07FD-7330-62D0-3D65-22268AA1FA7D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58E40456-0A75-CD65-718C-76A999856E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8" name="AutoShape 6">
            <a:extLst>
              <a:ext uri="{FF2B5EF4-FFF2-40B4-BE49-F238E27FC236}">
                <a16:creationId xmlns:a16="http://schemas.microsoft.com/office/drawing/2014/main" id="{B70F6DCF-99FA-575D-AE08-60306A27EA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AC9C633-4666-8FE3-DCEF-34266D9431B9}"/>
              </a:ext>
            </a:extLst>
          </p:cNvPr>
          <p:cNvSpPr txBox="1"/>
          <p:nvPr/>
        </p:nvSpPr>
        <p:spPr>
          <a:xfrm>
            <a:off x="-38621" y="186755"/>
            <a:ext cx="922124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PARTIE 7 </a:t>
            </a:r>
          </a:p>
          <a:p>
            <a:pPr algn="ctr"/>
            <a:r>
              <a:rPr lang="fr-FR" sz="3200" b="1" u="sng" dirty="0"/>
              <a:t>Conclusion &amp; perspectives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9EFF691-67E7-27DF-B0BD-DF2F5820C03D}"/>
              </a:ext>
            </a:extLst>
          </p:cNvPr>
          <p:cNvSpPr txBox="1"/>
          <p:nvPr/>
        </p:nvSpPr>
        <p:spPr>
          <a:xfrm>
            <a:off x="6733330" y="4037904"/>
            <a:ext cx="21102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700" b="1" dirty="0"/>
              <a:t>Compétences RNCP mobilisées</a:t>
            </a:r>
          </a:p>
          <a:p>
            <a:pPr>
              <a:buNone/>
            </a:pPr>
            <a:endParaRPr lang="fr-FR" sz="700" b="1" dirty="0"/>
          </a:p>
          <a:p>
            <a:pPr>
              <a:buNone/>
            </a:pPr>
            <a:r>
              <a:rPr lang="fr-FR" sz="700" b="1" dirty="0"/>
              <a:t>Synthèse globale du cycle de vie d’un projet data</a:t>
            </a:r>
          </a:p>
          <a:p>
            <a:pPr>
              <a:buNone/>
            </a:pPr>
            <a:r>
              <a:rPr lang="fr-FR" sz="700" b="1" dirty="0"/>
              <a:t>Capitalisation des compétences acquises</a:t>
            </a:r>
          </a:p>
          <a:p>
            <a:pPr>
              <a:buNone/>
            </a:pPr>
            <a:r>
              <a:rPr lang="fr-FR" sz="700" b="1" dirty="0"/>
              <a:t>Vision long terme et amélioration continue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BF74C50-D564-8285-626F-07AE8B0A6A90}"/>
              </a:ext>
            </a:extLst>
          </p:cNvPr>
          <p:cNvSpPr txBox="1"/>
          <p:nvPr/>
        </p:nvSpPr>
        <p:spPr>
          <a:xfrm>
            <a:off x="384035" y="2460074"/>
            <a:ext cx="490238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fr-FR" dirty="0"/>
              <a:t>Présenter le bilan global du projet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Mettre en évidence les apports et les limites</a:t>
            </a:r>
          </a:p>
          <a:p>
            <a:pPr marL="400050" indent="-400050">
              <a:buFont typeface="+mj-lt"/>
              <a:buAutoNum type="romanUcPeriod"/>
            </a:pPr>
            <a:r>
              <a:rPr lang="fr-FR" dirty="0"/>
              <a:t>Ouvrir sur les perspectives d’évolution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892E14A-F5DD-F129-78A9-2A9DB4EC456E}"/>
              </a:ext>
            </a:extLst>
          </p:cNvPr>
          <p:cNvSpPr txBox="1"/>
          <p:nvPr/>
        </p:nvSpPr>
        <p:spPr>
          <a:xfrm>
            <a:off x="2286000" y="125425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Objectifs de la partie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482113-CA7D-FE28-67DB-04B6CB13A0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987042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5F5894E-29E3-BC6D-4D72-0A2251A16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B47577B-13B6-5ABE-368B-5A439F29A315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50E898-25CA-545D-F08E-CB67E4587AFE}"/>
              </a:ext>
            </a:extLst>
          </p:cNvPr>
          <p:cNvSpPr txBox="1"/>
          <p:nvPr/>
        </p:nvSpPr>
        <p:spPr>
          <a:xfrm>
            <a:off x="672485" y="1771531"/>
            <a:ext cx="4572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Projet data de bout en bout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Architecture robuste et scalable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Valeur métier démontrée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Gouvernance intégrée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72CEC8-FF14-9CD1-B1D9-F0395A0CDA8A}"/>
              </a:ext>
            </a:extLst>
          </p:cNvPr>
          <p:cNvSpPr txBox="1"/>
          <p:nvPr/>
        </p:nvSpPr>
        <p:spPr>
          <a:xfrm>
            <a:off x="672485" y="985782"/>
            <a:ext cx="26829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BILAN GLOBAL DU PROJET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AF34682-4DC1-2E06-6EE7-85357092D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99767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691AC52-FB5A-D067-F695-8FFA3F87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E63450DD-9C1A-5075-BEBF-572605D63CA0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3FC19B5-5821-A007-1212-14847BB222CD}"/>
              </a:ext>
            </a:extLst>
          </p:cNvPr>
          <p:cNvSpPr txBox="1"/>
          <p:nvPr/>
        </p:nvSpPr>
        <p:spPr>
          <a:xfrm>
            <a:off x="672485" y="2138592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Enrichissement des modèles NLP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Intégration de nouveaux jeux de données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Déploiement à plus grande échelle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9EC2823-3DBA-A6E9-FE98-2991BD6D58D1}"/>
              </a:ext>
            </a:extLst>
          </p:cNvPr>
          <p:cNvSpPr txBox="1"/>
          <p:nvPr/>
        </p:nvSpPr>
        <p:spPr>
          <a:xfrm>
            <a:off x="672485" y="116989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PERSPECTIVES D’ÉVOLUTION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92DEE4A-361A-9462-0F9B-B0B292239A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28329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3E471B1-4E06-3152-271C-A2397F4E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E1607AD-2351-7E0D-3FE1-7A257DB778F3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889B37-A951-7408-E877-F3BD97C7D19A}"/>
              </a:ext>
            </a:extLst>
          </p:cNvPr>
          <p:cNvSpPr txBox="1"/>
          <p:nvPr/>
        </p:nvSpPr>
        <p:spPr>
          <a:xfrm>
            <a:off x="672485" y="2139436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Data </a:t>
            </a:r>
            <a:r>
              <a:rPr lang="fr-FR" dirty="0" err="1"/>
              <a:t>Engineer</a:t>
            </a:r>
            <a:r>
              <a:rPr lang="fr-FR" dirty="0"/>
              <a:t> orienté architecture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Sensibilité gouvernance et conformité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Capacité à piloter un projet data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231A13A-EA34-4574-DE8C-DA2FE9350160}"/>
              </a:ext>
            </a:extLst>
          </p:cNvPr>
          <p:cNvSpPr txBox="1"/>
          <p:nvPr/>
        </p:nvSpPr>
        <p:spPr>
          <a:xfrm>
            <a:off x="672485" y="117116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u="sng" dirty="0">
                <a:solidFill>
                  <a:srgbClr val="002060"/>
                </a:solidFill>
              </a:rPr>
              <a:t>POSITIONNEMENT PROFESSIONNEL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1FDDE7-F197-87F1-9CFE-1181AAE12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7910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B7C9C77-8456-FA25-E9D8-25790BECE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70C4539-6F7E-1445-372E-611269C7B75C}"/>
              </a:ext>
            </a:extLst>
          </p:cNvPr>
          <p:cNvSpPr/>
          <p:nvPr/>
        </p:nvSpPr>
        <p:spPr>
          <a:xfrm>
            <a:off x="0" y="4937760"/>
            <a:ext cx="9144000" cy="164616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906649C-CE65-B2EC-5C31-05B0B06AA180}"/>
              </a:ext>
            </a:extLst>
          </p:cNvPr>
          <p:cNvSpPr txBox="1"/>
          <p:nvPr/>
        </p:nvSpPr>
        <p:spPr>
          <a:xfrm>
            <a:off x="2581672" y="1402199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Problématique métier adressée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Solution technique industrialisable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Vision long terme et responsable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5672A6-87F7-D1E8-CA1D-821A4283C1FF}"/>
              </a:ext>
            </a:extLst>
          </p:cNvPr>
          <p:cNvSpPr txBox="1"/>
          <p:nvPr/>
        </p:nvSpPr>
        <p:spPr>
          <a:xfrm>
            <a:off x="2483701" y="411886"/>
            <a:ext cx="47679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u="sng" dirty="0"/>
              <a:t>CONCLUSION GÉNÉRALE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42D4360-A49D-2E0D-A52F-17D2B9961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0952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1235600" y="1742167"/>
            <a:ext cx="5315100" cy="1142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24CE243-AC46-9242-5B54-5350BE828B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72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4160</TotalTime>
  <Words>3403</Words>
  <Application>Microsoft Office PowerPoint</Application>
  <PresentationFormat>Affichage à l'écran (16:9)</PresentationFormat>
  <Paragraphs>712</Paragraphs>
  <Slides>72</Slides>
  <Notes>72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72</vt:i4>
      </vt:variant>
    </vt:vector>
  </HeadingPairs>
  <TitlesOfParts>
    <vt:vector size="80" baseType="lpstr">
      <vt:lpstr>Inter Medium</vt:lpstr>
      <vt:lpstr>Inter</vt:lpstr>
      <vt:lpstr>Aptos Display</vt:lpstr>
      <vt:lpstr>Calibri</vt:lpstr>
      <vt:lpstr>Arial</vt:lpstr>
      <vt:lpstr>Aptos</vt:lpstr>
      <vt:lpstr>Wingdings</vt:lpstr>
      <vt:lpstr>Thème Office</vt:lpstr>
      <vt:lpstr>Ismaël SYLLA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ismael sylla</dc:creator>
  <cp:lastModifiedBy>ismael sylla</cp:lastModifiedBy>
  <cp:revision>62</cp:revision>
  <dcterms:modified xsi:type="dcterms:W3CDTF">2025-12-14T13:00:25Z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3e49bf-5c7f-4a8a-bbbc-7213e78f5e38_Enabled">
    <vt:lpwstr>true</vt:lpwstr>
  </property>
  <property fmtid="{D5CDD505-2E9C-101B-9397-08002B2CF9AE}" pid="3" name="MSIP_Label_663e49bf-5c7f-4a8a-bbbc-7213e78f5e38_SetDate">
    <vt:lpwstr>2025-11-02T15:19:33Z</vt:lpwstr>
  </property>
  <property fmtid="{D5CDD505-2E9C-101B-9397-08002B2CF9AE}" pid="4" name="MSIP_Label_663e49bf-5c7f-4a8a-bbbc-7213e78f5e38_Method">
    <vt:lpwstr>Standard</vt:lpwstr>
  </property>
  <property fmtid="{D5CDD505-2E9C-101B-9397-08002B2CF9AE}" pid="5" name="MSIP_Label_663e49bf-5c7f-4a8a-bbbc-7213e78f5e38_Name">
    <vt:lpwstr>C2 - Information à diffusion restreinte</vt:lpwstr>
  </property>
  <property fmtid="{D5CDD505-2E9C-101B-9397-08002B2CF9AE}" pid="6" name="MSIP_Label_663e49bf-5c7f-4a8a-bbbc-7213e78f5e38_SiteId">
    <vt:lpwstr>039c67fe-49fc-42f3-a2a4-0a85eee29a7d</vt:lpwstr>
  </property>
  <property fmtid="{D5CDD505-2E9C-101B-9397-08002B2CF9AE}" pid="7" name="MSIP_Label_663e49bf-5c7f-4a8a-bbbc-7213e78f5e38_ActionId">
    <vt:lpwstr>b6ce385c-0787-42fc-aa71-7b33b4b295e4</vt:lpwstr>
  </property>
  <property fmtid="{D5CDD505-2E9C-101B-9397-08002B2CF9AE}" pid="8" name="MSIP_Label_663e49bf-5c7f-4a8a-bbbc-7213e78f5e38_ContentBits">
    <vt:lpwstr>2</vt:lpwstr>
  </property>
  <property fmtid="{D5CDD505-2E9C-101B-9397-08002B2CF9AE}" pid="9" name="MSIP_Label_663e49bf-5c7f-4a8a-bbbc-7213e78f5e38_Tag">
    <vt:lpwstr>10, 3, 0, 1</vt:lpwstr>
  </property>
  <property fmtid="{D5CDD505-2E9C-101B-9397-08002B2CF9AE}" pid="10" name="ClassificationContentMarkingFooterLocations">
    <vt:lpwstr>Simple Light:3</vt:lpwstr>
  </property>
  <property fmtid="{D5CDD505-2E9C-101B-9397-08002B2CF9AE}" pid="11" name="ClassificationContentMarkingFooterText">
    <vt:lpwstr>C2 - Interne</vt:lpwstr>
  </property>
</Properties>
</file>