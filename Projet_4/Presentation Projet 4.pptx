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6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70" r:id="rId13"/>
    <p:sldId id="271" r:id="rId14"/>
  </p:sldIdLst>
  <p:sldSz cx="18288000" cy="10287000"/>
  <p:notesSz cx="6858000" cy="9144000"/>
  <p:embeddedFontLst>
    <p:embeddedFont>
      <p:font typeface="Gotham" panose="020B0604020202020204" charset="0"/>
      <p:regular r:id="rId16"/>
    </p:embeddedFont>
    <p:embeddedFont>
      <p:font typeface="Gotham Bold" panose="020B0604020202020204" charset="0"/>
      <p:regular r:id="rId17"/>
    </p:embeddedFont>
    <p:embeddedFont>
      <p:font typeface="Inter SemiBold" panose="020B0604020202020204" charset="0"/>
      <p:regular r:id="rId18"/>
      <p:bold r:id="rId19"/>
    </p:embeddedFont>
    <p:embeddedFont>
      <p:font typeface="League Spartan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8" d="100"/>
          <a:sy n="48" d="100"/>
        </p:scale>
        <p:origin x="76" y="4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F7C615-2329-438D-9178-03F886D25000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05553-8663-4A55-B189-4673C36862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5916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7af7a6a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52" name="Google Shape;52;g377af7a6a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1371600" y="3473034"/>
            <a:ext cx="12956400" cy="1235400"/>
          </a:xfrm>
          <a:prstGeom prst="rect">
            <a:avLst/>
          </a:prstGeom>
        </p:spPr>
        <p:txBody>
          <a:bodyPr spcFirstLastPara="1" vert="horz" wrap="square" lIns="182850" tIns="182850" rIns="182850" bIns="182850" rtlCol="0" anchor="b" anchorCtr="0">
            <a:noAutofit/>
          </a:bodyPr>
          <a:lstStyle/>
          <a:p>
            <a:pPr lvl="0" algn="l"/>
            <a:r>
              <a:rPr lang="en-US" sz="8000" u="sng" spc="-44" dirty="0">
                <a:solidFill>
                  <a:schemeClr val="tx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Amazon Reviews</a:t>
            </a:r>
            <a:endParaRPr sz="8000" dirty="0">
              <a:solidFill>
                <a:schemeClr val="tx2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09550" y="4381500"/>
            <a:ext cx="7636900" cy="5095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1101" y="1574750"/>
            <a:ext cx="1946550" cy="13021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1470950" y="6171328"/>
            <a:ext cx="10630200" cy="1066200"/>
          </a:xfrm>
          <a:prstGeom prst="rect">
            <a:avLst/>
          </a:prstGeom>
        </p:spPr>
        <p:txBody>
          <a:bodyPr spcFirstLastPara="1" vert="horz" wrap="square" lIns="182850" tIns="182850" rIns="182850" bIns="182850" rtlCol="0" anchor="b" anchorCtr="0">
            <a:noAutofit/>
          </a:bodyPr>
          <a:lstStyle/>
          <a:p>
            <a:pPr algn="l">
              <a:lnSpc>
                <a:spcPts val="8360"/>
              </a:lnSpc>
            </a:pPr>
            <a:br>
              <a:rPr lang="en-US" sz="5600" spc="-44" dirty="0">
                <a:solidFill>
                  <a:srgbClr val="F7E7D7"/>
                </a:solidFill>
                <a:latin typeface="League Spartan"/>
                <a:ea typeface="League Spartan"/>
                <a:cs typeface="League Spartan"/>
                <a:sym typeface="League Spartan"/>
              </a:rPr>
            </a:br>
            <a:endParaRPr lang="en-US" spc="-44" dirty="0">
              <a:solidFill>
                <a:schemeClr val="accent6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4" name="Image 3" descr="Une image contenant logo, Police, symbole, Graphique&#10;&#10;Le contenu généré par l’IA peut être incorrect.">
            <a:extLst>
              <a:ext uri="{FF2B5EF4-FFF2-40B4-BE49-F238E27FC236}">
                <a16:creationId xmlns:a16="http://schemas.microsoft.com/office/drawing/2014/main" id="{8E5C3BFE-7289-3D7A-8079-2BB73077AF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1574750"/>
            <a:ext cx="2743199" cy="135895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A9EC51B8-8B3E-BE6C-307D-0B30405AC5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4449578"/>
            <a:ext cx="5525759" cy="3360922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7B524730-6C0A-E312-EE2C-0C4BFD3B9D0B}"/>
              </a:ext>
            </a:extLst>
          </p:cNvPr>
          <p:cNvSpPr txBox="1"/>
          <p:nvPr/>
        </p:nvSpPr>
        <p:spPr>
          <a:xfrm>
            <a:off x="1678053" y="9029700"/>
            <a:ext cx="4343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spc="-44" dirty="0">
                <a:solidFill>
                  <a:schemeClr val="tx2"/>
                </a:solidFill>
                <a:latin typeface="League Spartan"/>
              </a:rPr>
              <a:t>Ismaël SYLLA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-4341003" y="4190514"/>
            <a:ext cx="10587979" cy="1905972"/>
            <a:chOff x="0" y="0"/>
            <a:chExt cx="2788604" cy="5019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88604" cy="501984"/>
            </a:xfrm>
            <a:custGeom>
              <a:avLst/>
              <a:gdLst/>
              <a:ahLst/>
              <a:cxnLst/>
              <a:rect l="l" t="t" r="r" b="b"/>
              <a:pathLst>
                <a:path w="2788604" h="501984">
                  <a:moveTo>
                    <a:pt x="0" y="0"/>
                  </a:moveTo>
                  <a:lnTo>
                    <a:pt x="2788604" y="0"/>
                  </a:lnTo>
                  <a:lnTo>
                    <a:pt x="2788604" y="501984"/>
                  </a:lnTo>
                  <a:lnTo>
                    <a:pt x="0" y="501984"/>
                  </a:lnTo>
                  <a:close/>
                </a:path>
              </a:pathLst>
            </a:custGeom>
            <a:solidFill>
              <a:srgbClr val="0022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88604" cy="5400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081796" y="-541995"/>
            <a:ext cx="7206204" cy="10828995"/>
          </a:xfrm>
          <a:custGeom>
            <a:avLst/>
            <a:gdLst/>
            <a:ahLst/>
            <a:cxnLst/>
            <a:rect l="l" t="t" r="r" b="b"/>
            <a:pathLst>
              <a:path w="7206204" h="10828995">
                <a:moveTo>
                  <a:pt x="0" y="0"/>
                </a:moveTo>
                <a:lnTo>
                  <a:pt x="7206204" y="0"/>
                </a:lnTo>
                <a:lnTo>
                  <a:pt x="7206204" y="10828995"/>
                </a:lnTo>
                <a:lnTo>
                  <a:pt x="0" y="108289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2" name="TextBox 12"/>
          <p:cNvSpPr txBox="1"/>
          <p:nvPr/>
        </p:nvSpPr>
        <p:spPr>
          <a:xfrm rot="-5400000">
            <a:off x="-2136800" y="4497386"/>
            <a:ext cx="7708544" cy="1292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95"/>
              </a:lnSpc>
            </a:pPr>
            <a:r>
              <a:rPr lang="en-US" sz="10100" spc="-505" dirty="0">
                <a:solidFill>
                  <a:srgbClr val="FAF2E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SOMMAIRE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4B91A82A-53C0-CA61-D902-CB37B6ECF0FD}"/>
              </a:ext>
            </a:extLst>
          </p:cNvPr>
          <p:cNvSpPr txBox="1"/>
          <p:nvPr/>
        </p:nvSpPr>
        <p:spPr>
          <a:xfrm>
            <a:off x="3675993" y="2247900"/>
            <a:ext cx="1093601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4000" b="1" dirty="0"/>
              <a:t>📚 Sommaire</a:t>
            </a:r>
          </a:p>
          <a:p>
            <a:pPr>
              <a:buNone/>
            </a:pPr>
            <a:endParaRPr lang="fr-FR" sz="4000" b="1" dirty="0"/>
          </a:p>
        </p:txBody>
      </p:sp>
      <p:sp>
        <p:nvSpPr>
          <p:cNvPr id="21" name="Rectangle 1">
            <a:extLst>
              <a:ext uri="{FF2B5EF4-FFF2-40B4-BE49-F238E27FC236}">
                <a16:creationId xmlns:a16="http://schemas.microsoft.com/office/drawing/2014/main" id="{A0976EB6-9C5B-2331-26D2-0DD97E297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5993" y="59817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Titre &amp; Contexte du Projet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Objectifs globaux &amp; enjeux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Architecture du pipeline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Roadmap &amp; planning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Organisation RH &amp; méthode Agile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Suivi budgétaire &amp; gestion des risques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Formation &amp; documentation utilisateur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&amp; maintenance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Accessibilité &amp; RGPD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KPI &amp; résultats obtenus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Risques &amp; limites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Perspectives d’évolution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34954" y="3587856"/>
            <a:ext cx="915323" cy="80965"/>
            <a:chOff x="0" y="0"/>
            <a:chExt cx="241073" cy="213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1073" cy="21324"/>
            </a:xfrm>
            <a:custGeom>
              <a:avLst/>
              <a:gdLst/>
              <a:ahLst/>
              <a:cxnLst/>
              <a:rect l="l" t="t" r="r" b="b"/>
              <a:pathLst>
                <a:path w="241073" h="21324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CD8E8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10972800" y="4976795"/>
            <a:ext cx="0" cy="4385452"/>
          </a:xfrm>
          <a:prstGeom prst="line">
            <a:avLst/>
          </a:prstGeom>
          <a:ln w="9525" cap="flat">
            <a:solidFill>
              <a:srgbClr val="00225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Box 6"/>
          <p:cNvSpPr txBox="1"/>
          <p:nvPr/>
        </p:nvSpPr>
        <p:spPr>
          <a:xfrm>
            <a:off x="3526594" y="4579267"/>
            <a:ext cx="4222956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75"/>
              </a:lnSpc>
            </a:pPr>
            <a:r>
              <a:rPr lang="fr-FR" sz="2400" dirty="0">
                <a:solidFill>
                  <a:schemeClr val="tx2"/>
                </a:solidFill>
              </a:rPr>
              <a:t>Pourquoi analyser les avis clients Amazon ?</a:t>
            </a:r>
            <a:endParaRPr lang="en-US" sz="2400" spc="15" dirty="0">
              <a:solidFill>
                <a:schemeClr val="tx2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834954" y="2249398"/>
            <a:ext cx="8074697" cy="592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899" spc="-77" dirty="0" err="1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Contexte</a:t>
            </a:r>
            <a:r>
              <a:rPr lang="en-US" sz="3899" spc="-77" dirty="0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et </a:t>
            </a:r>
            <a:r>
              <a:rPr lang="en-US" sz="3899" spc="-77" dirty="0" err="1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enjeux</a:t>
            </a:r>
            <a:endParaRPr lang="en-US" sz="3899" spc="-77" dirty="0">
              <a:solidFill>
                <a:srgbClr val="00225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-13252" y="-82674"/>
            <a:ext cx="6768300" cy="1312616"/>
            <a:chOff x="0" y="0"/>
            <a:chExt cx="1782597" cy="34571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82597" cy="345710"/>
            </a:xfrm>
            <a:custGeom>
              <a:avLst/>
              <a:gdLst/>
              <a:ahLst/>
              <a:cxnLst/>
              <a:rect l="l" t="t" r="r" b="b"/>
              <a:pathLst>
                <a:path w="1782597" h="345710">
                  <a:moveTo>
                    <a:pt x="0" y="0"/>
                  </a:moveTo>
                  <a:lnTo>
                    <a:pt x="1782597" y="0"/>
                  </a:lnTo>
                  <a:lnTo>
                    <a:pt x="1782597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782597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12649929" y="1312616"/>
            <a:ext cx="5647596" cy="4487192"/>
            <a:chOff x="0" y="0"/>
            <a:chExt cx="3901440" cy="3099816"/>
          </a:xfrm>
        </p:grpSpPr>
        <p:sp>
          <p:nvSpPr>
            <p:cNvPr id="15" name="Freeform 15"/>
            <p:cNvSpPr/>
            <p:nvPr/>
          </p:nvSpPr>
          <p:spPr>
            <a:xfrm>
              <a:off x="127000" y="190500"/>
              <a:ext cx="3657600" cy="2413000"/>
            </a:xfrm>
            <a:custGeom>
              <a:avLst/>
              <a:gdLst/>
              <a:ahLst/>
              <a:cxnLst/>
              <a:rect l="l" t="t" r="r" b="b"/>
              <a:pathLst>
                <a:path w="3657600" h="2413000">
                  <a:moveTo>
                    <a:pt x="3657600" y="2413000"/>
                  </a:moveTo>
                  <a:lnTo>
                    <a:pt x="0" y="2413000"/>
                  </a:lnTo>
                  <a:lnTo>
                    <a:pt x="0" y="0"/>
                  </a:lnTo>
                  <a:lnTo>
                    <a:pt x="3657600" y="0"/>
                  </a:lnTo>
                  <a:lnTo>
                    <a:pt x="3657600" y="2413000"/>
                  </a:lnTo>
                  <a:close/>
                </a:path>
              </a:pathLst>
            </a:custGeom>
            <a:blipFill>
              <a:blip r:embed="rId2"/>
              <a:stretch>
                <a:fillRect t="-526" b="-52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3901440" cy="3099816"/>
            </a:xfrm>
            <a:custGeom>
              <a:avLst/>
              <a:gdLst/>
              <a:ahLst/>
              <a:cxnLst/>
              <a:rect l="l" t="t" r="r" b="b"/>
              <a:pathLst>
                <a:path w="3901440" h="3099816">
                  <a:moveTo>
                    <a:pt x="3901440" y="3099816"/>
                  </a:moveTo>
                  <a:lnTo>
                    <a:pt x="0" y="3099816"/>
                  </a:lnTo>
                  <a:lnTo>
                    <a:pt x="0" y="0"/>
                  </a:lnTo>
                  <a:lnTo>
                    <a:pt x="3901440" y="0"/>
                  </a:lnTo>
                  <a:lnTo>
                    <a:pt x="3901440" y="3099816"/>
                  </a:lnTo>
                  <a:close/>
                </a:path>
              </a:pathLst>
            </a:custGeom>
            <a:blipFill>
              <a:blip r:embed="rId3"/>
              <a:stretch>
                <a:fillRect t="-29" b="-29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12649929" y="5799808"/>
            <a:ext cx="5647596" cy="4487192"/>
            <a:chOff x="0" y="0"/>
            <a:chExt cx="3901440" cy="3099816"/>
          </a:xfrm>
        </p:grpSpPr>
        <p:sp>
          <p:nvSpPr>
            <p:cNvPr id="18" name="Freeform 18"/>
            <p:cNvSpPr/>
            <p:nvPr/>
          </p:nvSpPr>
          <p:spPr>
            <a:xfrm>
              <a:off x="127000" y="190500"/>
              <a:ext cx="3657600" cy="2413000"/>
            </a:xfrm>
            <a:custGeom>
              <a:avLst/>
              <a:gdLst/>
              <a:ahLst/>
              <a:cxnLst/>
              <a:rect l="l" t="t" r="r" b="b"/>
              <a:pathLst>
                <a:path w="3657600" h="2413000">
                  <a:moveTo>
                    <a:pt x="3657600" y="2413000"/>
                  </a:moveTo>
                  <a:lnTo>
                    <a:pt x="0" y="2413000"/>
                  </a:lnTo>
                  <a:lnTo>
                    <a:pt x="0" y="0"/>
                  </a:lnTo>
                  <a:lnTo>
                    <a:pt x="3657600" y="0"/>
                  </a:lnTo>
                  <a:lnTo>
                    <a:pt x="3657600" y="2413000"/>
                  </a:lnTo>
                  <a:close/>
                </a:path>
              </a:pathLst>
            </a:custGeom>
            <a:blipFill>
              <a:blip r:embed="rId4"/>
              <a:stretch>
                <a:fillRect t="-526" b="-52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0"/>
              <a:ext cx="3901440" cy="3099816"/>
            </a:xfrm>
            <a:custGeom>
              <a:avLst/>
              <a:gdLst/>
              <a:ahLst/>
              <a:cxnLst/>
              <a:rect l="l" t="t" r="r" b="b"/>
              <a:pathLst>
                <a:path w="3901440" h="3099816">
                  <a:moveTo>
                    <a:pt x="3901440" y="3099816"/>
                  </a:moveTo>
                  <a:lnTo>
                    <a:pt x="0" y="3099816"/>
                  </a:lnTo>
                  <a:lnTo>
                    <a:pt x="0" y="0"/>
                  </a:lnTo>
                  <a:lnTo>
                    <a:pt x="3901440" y="0"/>
                  </a:lnTo>
                  <a:lnTo>
                    <a:pt x="3901440" y="3099816"/>
                  </a:lnTo>
                  <a:close/>
                </a:path>
              </a:pathLst>
            </a:custGeom>
            <a:blipFill>
              <a:blip r:embed="rId3"/>
              <a:stretch>
                <a:fillRect t="-29" b="-29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219200" y="2249398"/>
            <a:ext cx="469753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267263" y="9756873"/>
            <a:ext cx="4710263" cy="27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57"/>
              </a:lnSpc>
            </a:pPr>
            <a:r>
              <a:rPr lang="en-US" sz="1309" b="1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3</a:t>
            </a:r>
          </a:p>
        </p:txBody>
      </p:sp>
      <p:pic>
        <p:nvPicPr>
          <p:cNvPr id="22" name="Google Shape;56;p13">
            <a:extLst>
              <a:ext uri="{FF2B5EF4-FFF2-40B4-BE49-F238E27FC236}">
                <a16:creationId xmlns:a16="http://schemas.microsoft.com/office/drawing/2014/main" id="{53D0854A-ECDA-9161-9954-8A83B2A7EC78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25200" y="5258"/>
            <a:ext cx="3242553" cy="130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Image 22" descr="Une image contenant logo, Police, symbole, Graphique&#10;&#10;Le contenu généré par l’IA peut être incorrect.">
            <a:extLst>
              <a:ext uri="{FF2B5EF4-FFF2-40B4-BE49-F238E27FC236}">
                <a16:creationId xmlns:a16="http://schemas.microsoft.com/office/drawing/2014/main" id="{E29FA274-DD50-AC8C-C983-BFC4BAAB17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0"/>
            <a:ext cx="3966498" cy="1358950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5E76386F-09E0-E4AC-EDF9-DBD3B5570B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7055" y="-3776"/>
            <a:ext cx="3352800" cy="1302100"/>
          </a:xfrm>
          <a:prstGeom prst="rect">
            <a:avLst/>
          </a:prstGeom>
        </p:spPr>
      </p:pic>
      <p:pic>
        <p:nvPicPr>
          <p:cNvPr id="25" name="Google Shape;56;p13">
            <a:extLst>
              <a:ext uri="{FF2B5EF4-FFF2-40B4-BE49-F238E27FC236}">
                <a16:creationId xmlns:a16="http://schemas.microsoft.com/office/drawing/2014/main" id="{F07DC3F5-4C14-6999-30EF-9AE4B362D4A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54201" y="19550"/>
            <a:ext cx="3242553" cy="130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Image 25" descr="Une image contenant logo, Police, symbole, Graphique&#10;&#10;Le contenu généré par l’IA peut être incorrect.">
            <a:extLst>
              <a:ext uri="{FF2B5EF4-FFF2-40B4-BE49-F238E27FC236}">
                <a16:creationId xmlns:a16="http://schemas.microsoft.com/office/drawing/2014/main" id="{E15A4573-2CEB-C5C0-00A6-30D27B2947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8401" y="14292"/>
            <a:ext cx="3966498" cy="1358950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5EAB9A1A-4452-4C01-D53D-DD6AC781F04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6056" y="10516"/>
            <a:ext cx="3352800" cy="1302100"/>
          </a:xfrm>
          <a:prstGeom prst="rect">
            <a:avLst/>
          </a:prstGeom>
        </p:spPr>
      </p:pic>
      <p:sp>
        <p:nvSpPr>
          <p:cNvPr id="32" name="ZoneTexte 31">
            <a:extLst>
              <a:ext uri="{FF2B5EF4-FFF2-40B4-BE49-F238E27FC236}">
                <a16:creationId xmlns:a16="http://schemas.microsoft.com/office/drawing/2014/main" id="{1C4A57C7-666C-B6E5-BAB7-521A3A4D6FD5}"/>
              </a:ext>
            </a:extLst>
          </p:cNvPr>
          <p:cNvSpPr txBox="1"/>
          <p:nvPr/>
        </p:nvSpPr>
        <p:spPr>
          <a:xfrm>
            <a:off x="1012732" y="5707733"/>
            <a:ext cx="958316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Amazon reçoit des milliers d’avis chaque jour, souvent non structurés et peu exploitables en l’état.</a:t>
            </a:r>
          </a:p>
          <a:p>
            <a:r>
              <a:rPr lang="fr-FR" dirty="0"/>
              <a:t>Le besoin métier est clair : extraire de la valeur de cette masse de feedbacks pour améliorer produits et services.</a:t>
            </a:r>
          </a:p>
          <a:p>
            <a:r>
              <a:rPr lang="fr-FR" dirty="0"/>
              <a:t>Notre objectif : automatiser l’analyse via un pipeline NLP robuste, enrichir les avis, et les exposer aux équipes métiers.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911178" y="2658270"/>
            <a:ext cx="915323" cy="80965"/>
            <a:chOff x="0" y="0"/>
            <a:chExt cx="241073" cy="213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1073" cy="21324"/>
            </a:xfrm>
            <a:custGeom>
              <a:avLst/>
              <a:gdLst/>
              <a:ahLst/>
              <a:cxnLst/>
              <a:rect l="l" t="t" r="r" b="b"/>
              <a:pathLst>
                <a:path w="241073" h="21324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CD8E8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825717" y="3308960"/>
            <a:ext cx="1111965" cy="1113674"/>
          </a:xfrm>
          <a:custGeom>
            <a:avLst/>
            <a:gdLst/>
            <a:ahLst/>
            <a:cxnLst/>
            <a:rect l="l" t="t" r="r" b="b"/>
            <a:pathLst>
              <a:path w="1111965" h="1113674">
                <a:moveTo>
                  <a:pt x="0" y="0"/>
                </a:moveTo>
                <a:lnTo>
                  <a:pt x="1111965" y="0"/>
                </a:lnTo>
                <a:lnTo>
                  <a:pt x="1111965" y="1113674"/>
                </a:lnTo>
                <a:lnTo>
                  <a:pt x="0" y="11136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4" name="TextBox 14"/>
          <p:cNvSpPr txBox="1"/>
          <p:nvPr/>
        </p:nvSpPr>
        <p:spPr>
          <a:xfrm>
            <a:off x="1911178" y="1922348"/>
            <a:ext cx="6125046" cy="59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4601"/>
              </a:lnSpc>
            </a:pPr>
            <a:r>
              <a:rPr lang="fr-FR" sz="4000" dirty="0"/>
              <a:t>Roadmap &amp; planning</a:t>
            </a:r>
            <a:endParaRPr lang="en-US" sz="3899" b="1" spc="-77" dirty="0">
              <a:solidFill>
                <a:srgbClr val="00225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5846871" y="9444641"/>
            <a:ext cx="2130655" cy="27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57"/>
              </a:lnSpc>
            </a:pPr>
            <a:r>
              <a:rPr lang="en-US" sz="1309" b="1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19200" y="1903298"/>
            <a:ext cx="652490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2.</a:t>
            </a: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6F44FEB2-2BA7-4CBA-4673-7EB804ADC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1600" y="2019837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1" i="0" u="none" strike="noStrike" cap="none" normalizeH="0" baseline="0">
                <a:ln>
                  <a:noFill/>
                </a:ln>
                <a:solidFill>
                  <a:srgbClr val="002250"/>
                </a:solidFill>
                <a:effectLst/>
                <a:latin typeface="Arial" panose="020B0604020202020204" pitchFamily="34" charset="0"/>
              </a:rPr>
              <a:t>4</a:t>
            </a: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9" name="Google Shape;56;p13">
            <a:extLst>
              <a:ext uri="{FF2B5EF4-FFF2-40B4-BE49-F238E27FC236}">
                <a16:creationId xmlns:a16="http://schemas.microsoft.com/office/drawing/2014/main" id="{C9CC8CE2-3912-9258-C087-FB519CBAA2A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54201" y="19550"/>
            <a:ext cx="3242553" cy="130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Image 19" descr="Une image contenant logo, Police, symbole, Graphique&#10;&#10;Le contenu généré par l’IA peut être incorrect.">
            <a:extLst>
              <a:ext uri="{FF2B5EF4-FFF2-40B4-BE49-F238E27FC236}">
                <a16:creationId xmlns:a16="http://schemas.microsoft.com/office/drawing/2014/main" id="{6016B34B-03F4-1DAB-3340-B2FB876704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8401" y="14292"/>
            <a:ext cx="3966498" cy="1358950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DCF1C9DD-47ED-6766-69B0-15E171B0A7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6056" y="10516"/>
            <a:ext cx="3352800" cy="1302100"/>
          </a:xfrm>
          <a:prstGeom prst="rect">
            <a:avLst/>
          </a:prstGeom>
        </p:spPr>
      </p:pic>
      <p:grpSp>
        <p:nvGrpSpPr>
          <p:cNvPr id="22" name="Group 10">
            <a:extLst>
              <a:ext uri="{FF2B5EF4-FFF2-40B4-BE49-F238E27FC236}">
                <a16:creationId xmlns:a16="http://schemas.microsoft.com/office/drawing/2014/main" id="{685F3FE4-73B2-CB97-F951-71F7DE467148}"/>
              </a:ext>
            </a:extLst>
          </p:cNvPr>
          <p:cNvGrpSpPr/>
          <p:nvPr/>
        </p:nvGrpSpPr>
        <p:grpSpPr>
          <a:xfrm>
            <a:off x="-13252" y="-23143"/>
            <a:ext cx="6768300" cy="1312616"/>
            <a:chOff x="0" y="0"/>
            <a:chExt cx="1782597" cy="345710"/>
          </a:xfrm>
        </p:grpSpPr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7972CCF1-9336-9D1E-7793-95D0BF072E35}"/>
                </a:ext>
              </a:extLst>
            </p:cNvPr>
            <p:cNvSpPr/>
            <p:nvPr/>
          </p:nvSpPr>
          <p:spPr>
            <a:xfrm>
              <a:off x="0" y="0"/>
              <a:ext cx="1782597" cy="345710"/>
            </a:xfrm>
            <a:custGeom>
              <a:avLst/>
              <a:gdLst/>
              <a:ahLst/>
              <a:cxnLst/>
              <a:rect l="l" t="t" r="r" b="b"/>
              <a:pathLst>
                <a:path w="1782597" h="345710">
                  <a:moveTo>
                    <a:pt x="0" y="0"/>
                  </a:moveTo>
                  <a:lnTo>
                    <a:pt x="1782597" y="0"/>
                  </a:lnTo>
                  <a:lnTo>
                    <a:pt x="1782597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TextBox 12">
              <a:extLst>
                <a:ext uri="{FF2B5EF4-FFF2-40B4-BE49-F238E27FC236}">
                  <a16:creationId xmlns:a16="http://schemas.microsoft.com/office/drawing/2014/main" id="{1B7EB79A-B642-D58B-8F2E-F7ACEF2EFA16}"/>
                </a:ext>
              </a:extLst>
            </p:cNvPr>
            <p:cNvSpPr txBox="1"/>
            <p:nvPr/>
          </p:nvSpPr>
          <p:spPr>
            <a:xfrm>
              <a:off x="0" y="-38100"/>
              <a:ext cx="1782597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ZoneTexte 25">
            <a:extLst>
              <a:ext uri="{FF2B5EF4-FFF2-40B4-BE49-F238E27FC236}">
                <a16:creationId xmlns:a16="http://schemas.microsoft.com/office/drawing/2014/main" id="{2943D481-AE52-D2D7-D3E5-558A4AAFA16F}"/>
              </a:ext>
            </a:extLst>
          </p:cNvPr>
          <p:cNvSpPr txBox="1"/>
          <p:nvPr/>
        </p:nvSpPr>
        <p:spPr>
          <a:xfrm>
            <a:off x="3505200" y="3082680"/>
            <a:ext cx="11596869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/>
              <a:t>Phase 1 : cadrage, choix techniques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/>
              <a:t>Phase 2 : développement &amp; </a:t>
            </a:r>
            <a:r>
              <a:rPr lang="fr-FR" sz="2800" dirty="0" err="1"/>
              <a:t>itérationsPhase</a:t>
            </a:r>
            <a:r>
              <a:rPr lang="fr-FR" sz="28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/>
              <a:t>Phase 3 : tests de production, </a:t>
            </a:r>
            <a:r>
              <a:rPr lang="fr-FR" sz="2800" dirty="0" err="1"/>
              <a:t>monitoringPhase</a:t>
            </a:r>
            <a:endParaRPr lang="fr-FR" sz="2800" dirty="0"/>
          </a:p>
          <a:p>
            <a:r>
              <a:rPr lang="fr-FR" sz="28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/>
              <a:t>Phase 4 : livraison, documentation, formation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11178" y="2658270"/>
            <a:ext cx="915323" cy="80965"/>
            <a:chOff x="0" y="0"/>
            <a:chExt cx="241073" cy="213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1073" cy="21324"/>
            </a:xfrm>
            <a:custGeom>
              <a:avLst/>
              <a:gdLst/>
              <a:ahLst/>
              <a:cxnLst/>
              <a:rect l="l" t="t" r="r" b="b"/>
              <a:pathLst>
                <a:path w="241073" h="21324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CD8E8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267263" y="9756873"/>
            <a:ext cx="4710263" cy="27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57"/>
              </a:lnSpc>
            </a:pPr>
            <a:r>
              <a:rPr lang="en-US" sz="1309" b="1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9200" y="1903298"/>
            <a:ext cx="652490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11178" y="1922348"/>
            <a:ext cx="8075625" cy="59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4601"/>
              </a:lnSpc>
            </a:pPr>
            <a:r>
              <a:rPr lang="fr-FR" sz="4000" dirty="0"/>
              <a:t>Organisation RH &amp; méthode Agile</a:t>
            </a:r>
            <a:endParaRPr lang="en-US" sz="3899" b="1" spc="-77" dirty="0">
              <a:solidFill>
                <a:srgbClr val="00225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" name="AutoShape 8"/>
          <p:cNvSpPr/>
          <p:nvPr/>
        </p:nvSpPr>
        <p:spPr>
          <a:xfrm flipV="1">
            <a:off x="11947020" y="1194282"/>
            <a:ext cx="0" cy="2116120"/>
          </a:xfrm>
          <a:prstGeom prst="line">
            <a:avLst/>
          </a:prstGeom>
          <a:ln w="9525" cap="flat">
            <a:solidFill>
              <a:srgbClr val="F7E7D7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Box 9"/>
          <p:cNvSpPr txBox="1"/>
          <p:nvPr/>
        </p:nvSpPr>
        <p:spPr>
          <a:xfrm>
            <a:off x="2368840" y="3843802"/>
            <a:ext cx="10408799" cy="299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5"/>
              </a:lnSpc>
            </a:pPr>
            <a:endParaRPr lang="en-US" sz="1609" spc="15" dirty="0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0" y="0"/>
            <a:ext cx="6768300" cy="1312616"/>
            <a:chOff x="0" y="0"/>
            <a:chExt cx="1782597" cy="34571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82597" cy="345710"/>
            </a:xfrm>
            <a:custGeom>
              <a:avLst/>
              <a:gdLst/>
              <a:ahLst/>
              <a:cxnLst/>
              <a:rect l="l" t="t" r="r" b="b"/>
              <a:pathLst>
                <a:path w="1782597" h="345710">
                  <a:moveTo>
                    <a:pt x="0" y="0"/>
                  </a:moveTo>
                  <a:lnTo>
                    <a:pt x="1782597" y="0"/>
                  </a:lnTo>
                  <a:lnTo>
                    <a:pt x="1782597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782597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15" name="Google Shape;56;p13">
            <a:extLst>
              <a:ext uri="{FF2B5EF4-FFF2-40B4-BE49-F238E27FC236}">
                <a16:creationId xmlns:a16="http://schemas.microsoft.com/office/drawing/2014/main" id="{75D0C101-D82F-6332-3CD0-58982AF4F71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154201" y="19550"/>
            <a:ext cx="3242553" cy="130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Image 15" descr="Une image contenant logo, Police, symbole, Graphique&#10;&#10;Le contenu généré par l’IA peut être incorrect.">
            <a:extLst>
              <a:ext uri="{FF2B5EF4-FFF2-40B4-BE49-F238E27FC236}">
                <a16:creationId xmlns:a16="http://schemas.microsoft.com/office/drawing/2014/main" id="{2E8F8010-4A2F-0A7B-9A38-BB98C05523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8401" y="14292"/>
            <a:ext cx="3966498" cy="1358950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E790553F-B2B7-01A1-9454-644BD7DEDA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6056" y="10516"/>
            <a:ext cx="3352800" cy="1302100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CC25A509-9476-9CEC-5D1F-C40BB2F4F749}"/>
              </a:ext>
            </a:extLst>
          </p:cNvPr>
          <p:cNvSpPr txBox="1"/>
          <p:nvPr/>
        </p:nvSpPr>
        <p:spPr>
          <a:xfrm>
            <a:off x="1480899" y="3465974"/>
            <a:ext cx="9144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Organisation en sprint Agile avec rituels : </a:t>
            </a:r>
            <a:r>
              <a:rPr lang="fr-FR" sz="2400" dirty="0" err="1"/>
              <a:t>daily</a:t>
            </a:r>
            <a:r>
              <a:rPr lang="fr-FR" sz="2400" dirty="0"/>
              <a:t>, rétrospective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Outils utilisés : Trello, Notion, GitHub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Répartition des rôles : Data </a:t>
            </a:r>
            <a:r>
              <a:rPr lang="fr-FR" sz="2400" dirty="0" err="1"/>
              <a:t>Engineer</a:t>
            </a:r>
            <a:r>
              <a:rPr lang="fr-FR" sz="2400" dirty="0"/>
              <a:t>, PM, QA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Utilisation d’un RACI pour les responsabilités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11178" y="3238488"/>
            <a:ext cx="915323" cy="80965"/>
            <a:chOff x="0" y="0"/>
            <a:chExt cx="241073" cy="213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1073" cy="21324"/>
            </a:xfrm>
            <a:custGeom>
              <a:avLst/>
              <a:gdLst/>
              <a:ahLst/>
              <a:cxnLst/>
              <a:rect l="l" t="t" r="r" b="b"/>
              <a:pathLst>
                <a:path w="241073" h="21324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CD8E8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3561197" y="4229100"/>
            <a:ext cx="3034633" cy="3191297"/>
          </a:xfrm>
          <a:custGeom>
            <a:avLst/>
            <a:gdLst/>
            <a:ahLst/>
            <a:cxnLst/>
            <a:rect l="l" t="t" r="r" b="b"/>
            <a:pathLst>
              <a:path w="3034633" h="3191297">
                <a:moveTo>
                  <a:pt x="0" y="0"/>
                </a:moveTo>
                <a:lnTo>
                  <a:pt x="3034633" y="0"/>
                </a:lnTo>
                <a:lnTo>
                  <a:pt x="3034633" y="3191297"/>
                </a:lnTo>
                <a:lnTo>
                  <a:pt x="0" y="31912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dirty="0"/>
          </a:p>
        </p:txBody>
      </p:sp>
      <p:sp>
        <p:nvSpPr>
          <p:cNvPr id="11" name="TextBox 11"/>
          <p:cNvSpPr txBox="1"/>
          <p:nvPr/>
        </p:nvSpPr>
        <p:spPr>
          <a:xfrm>
            <a:off x="13267263" y="9756873"/>
            <a:ext cx="4710263" cy="27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57"/>
              </a:lnSpc>
            </a:pPr>
            <a:r>
              <a:rPr lang="en-US" sz="1309" b="1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19200" y="1903298"/>
            <a:ext cx="652490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11178" y="1956689"/>
            <a:ext cx="5160452" cy="1186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4601"/>
              </a:lnSpc>
            </a:pPr>
            <a:r>
              <a:rPr lang="fr-FR" sz="4000" dirty="0"/>
              <a:t>Suivi budgétaire &amp; gestion des risques</a:t>
            </a:r>
            <a:endParaRPr lang="en-US" sz="3899" b="1" spc="-77" dirty="0">
              <a:solidFill>
                <a:srgbClr val="00225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6" name="Google Shape;56;p13">
            <a:extLst>
              <a:ext uri="{FF2B5EF4-FFF2-40B4-BE49-F238E27FC236}">
                <a16:creationId xmlns:a16="http://schemas.microsoft.com/office/drawing/2014/main" id="{32198DF1-C101-B292-AA2D-24801C9BED7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54201" y="19550"/>
            <a:ext cx="3242553" cy="130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Image 16" descr="Une image contenant logo, Police, symbole, Graphique&#10;&#10;Le contenu généré par l’IA peut être incorrect.">
            <a:extLst>
              <a:ext uri="{FF2B5EF4-FFF2-40B4-BE49-F238E27FC236}">
                <a16:creationId xmlns:a16="http://schemas.microsoft.com/office/drawing/2014/main" id="{15E12FAD-A3B2-D848-F0B6-21C9D2CA99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8401" y="0"/>
            <a:ext cx="3966498" cy="1358950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8E740AC1-2A89-836F-086A-25EBB306E2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6056" y="10516"/>
            <a:ext cx="3352800" cy="1302100"/>
          </a:xfrm>
          <a:prstGeom prst="rect">
            <a:avLst/>
          </a:prstGeom>
        </p:spPr>
      </p:pic>
      <p:grpSp>
        <p:nvGrpSpPr>
          <p:cNvPr id="19" name="Group 10">
            <a:extLst>
              <a:ext uri="{FF2B5EF4-FFF2-40B4-BE49-F238E27FC236}">
                <a16:creationId xmlns:a16="http://schemas.microsoft.com/office/drawing/2014/main" id="{AADFCEBB-7BEC-C75C-EBC7-96DBF0768DBB}"/>
              </a:ext>
            </a:extLst>
          </p:cNvPr>
          <p:cNvGrpSpPr/>
          <p:nvPr/>
        </p:nvGrpSpPr>
        <p:grpSpPr>
          <a:xfrm>
            <a:off x="0" y="0"/>
            <a:ext cx="6768300" cy="1312616"/>
            <a:chOff x="0" y="0"/>
            <a:chExt cx="1782597" cy="345710"/>
          </a:xfrm>
        </p:grpSpPr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40B06F47-0867-FF20-9EC4-51B8E7BEFA36}"/>
                </a:ext>
              </a:extLst>
            </p:cNvPr>
            <p:cNvSpPr/>
            <p:nvPr/>
          </p:nvSpPr>
          <p:spPr>
            <a:xfrm>
              <a:off x="0" y="0"/>
              <a:ext cx="1782597" cy="345710"/>
            </a:xfrm>
            <a:custGeom>
              <a:avLst/>
              <a:gdLst/>
              <a:ahLst/>
              <a:cxnLst/>
              <a:rect l="l" t="t" r="r" b="b"/>
              <a:pathLst>
                <a:path w="1782597" h="345710">
                  <a:moveTo>
                    <a:pt x="0" y="0"/>
                  </a:moveTo>
                  <a:lnTo>
                    <a:pt x="1782597" y="0"/>
                  </a:lnTo>
                  <a:lnTo>
                    <a:pt x="1782597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TextBox 12">
              <a:extLst>
                <a:ext uri="{FF2B5EF4-FFF2-40B4-BE49-F238E27FC236}">
                  <a16:creationId xmlns:a16="http://schemas.microsoft.com/office/drawing/2014/main" id="{8FE3D2C5-A766-06C0-DF47-40D270AA5BEF}"/>
                </a:ext>
              </a:extLst>
            </p:cNvPr>
            <p:cNvSpPr txBox="1"/>
            <p:nvPr/>
          </p:nvSpPr>
          <p:spPr>
            <a:xfrm>
              <a:off x="0" y="-38100"/>
              <a:ext cx="1782597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ZoneTexte 5">
            <a:extLst>
              <a:ext uri="{FF2B5EF4-FFF2-40B4-BE49-F238E27FC236}">
                <a16:creationId xmlns:a16="http://schemas.microsoft.com/office/drawing/2014/main" id="{8B36A608-0967-3EA3-C6B5-1455DFC24FCC}"/>
              </a:ext>
            </a:extLst>
          </p:cNvPr>
          <p:cNvSpPr txBox="1"/>
          <p:nvPr/>
        </p:nvSpPr>
        <p:spPr>
          <a:xfrm>
            <a:off x="1219200" y="4152900"/>
            <a:ext cx="9144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/>
              <a:t>Budget maîtrisé (outils majoritairement gratuits ou open-source)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/>
              <a:t>Risques identifiés : coupures, erreurs de modèle, RGPD, perte de données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/>
              <a:t>Mesures d’atténuation : backups, versioning, logs, anonymisation, tests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39753" y="3220245"/>
            <a:ext cx="915323" cy="80965"/>
            <a:chOff x="0" y="0"/>
            <a:chExt cx="241073" cy="213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1073" cy="21324"/>
            </a:xfrm>
            <a:custGeom>
              <a:avLst/>
              <a:gdLst/>
              <a:ahLst/>
              <a:cxnLst/>
              <a:rect l="l" t="t" r="r" b="b"/>
              <a:pathLst>
                <a:path w="241073" h="21324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CD8E8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219200" y="1903298"/>
            <a:ext cx="652490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11178" y="1903298"/>
            <a:ext cx="6768300" cy="11823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4601"/>
              </a:lnSpc>
            </a:pPr>
            <a:r>
              <a:rPr lang="en-US" sz="3899" b="1" spc="-77" dirty="0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Formation &amp; documentation </a:t>
            </a:r>
            <a:r>
              <a:rPr lang="en-US" sz="3899" b="1" spc="-77" dirty="0" err="1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utilisateur</a:t>
            </a:r>
            <a:endParaRPr lang="en-US" sz="3899" b="1" spc="-77" dirty="0">
              <a:solidFill>
                <a:srgbClr val="00225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0" y="0"/>
            <a:ext cx="6768300" cy="1312616"/>
            <a:chOff x="0" y="0"/>
            <a:chExt cx="1782597" cy="34571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82597" cy="345710"/>
            </a:xfrm>
            <a:custGeom>
              <a:avLst/>
              <a:gdLst/>
              <a:ahLst/>
              <a:cxnLst/>
              <a:rect l="l" t="t" r="r" b="b"/>
              <a:pathLst>
                <a:path w="1782597" h="345710">
                  <a:moveTo>
                    <a:pt x="0" y="0"/>
                  </a:moveTo>
                  <a:lnTo>
                    <a:pt x="1782597" y="0"/>
                  </a:lnTo>
                  <a:lnTo>
                    <a:pt x="1782597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782597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13" name="Google Shape;56;p13">
            <a:extLst>
              <a:ext uri="{FF2B5EF4-FFF2-40B4-BE49-F238E27FC236}">
                <a16:creationId xmlns:a16="http://schemas.microsoft.com/office/drawing/2014/main" id="{E3485922-AD38-102B-08CC-0FFCF48574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154201" y="19550"/>
            <a:ext cx="3242553" cy="130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 13" descr="Une image contenant logo, Police, symbole, Graphique&#10;&#10;Le contenu généré par l’IA peut être incorrect.">
            <a:extLst>
              <a:ext uri="{FF2B5EF4-FFF2-40B4-BE49-F238E27FC236}">
                <a16:creationId xmlns:a16="http://schemas.microsoft.com/office/drawing/2014/main" id="{FA6D49A1-4A59-3C18-7205-3D9DF8D3C3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8401" y="14292"/>
            <a:ext cx="3966498" cy="1358950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49D87393-21FA-CDAC-9D7A-95A84225D5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6056" y="10516"/>
            <a:ext cx="3352800" cy="1302100"/>
          </a:xfrm>
          <a:prstGeom prst="rect">
            <a:avLst/>
          </a:prstGeom>
        </p:spPr>
      </p:pic>
      <p:sp>
        <p:nvSpPr>
          <p:cNvPr id="22" name="Rectangle 1">
            <a:extLst>
              <a:ext uri="{FF2B5EF4-FFF2-40B4-BE49-F238E27FC236}">
                <a16:creationId xmlns:a16="http://schemas.microsoft.com/office/drawing/2014/main" id="{6D03970D-8DA4-EBA1-E636-1A93FAC5C8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795237"/>
            <a:ext cx="783111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Guide d’utilisation rédigé pour chaque outil :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Airflow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Snowflake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MongoDB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Documentation technique et fonctionnelle disponible en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markdown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Mise en place d’un wiki interne pour les futurs utilisateurs / mainteneurs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11178" y="3220245"/>
            <a:ext cx="915323" cy="80965"/>
            <a:chOff x="0" y="0"/>
            <a:chExt cx="241073" cy="213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1073" cy="21324"/>
            </a:xfrm>
            <a:custGeom>
              <a:avLst/>
              <a:gdLst/>
              <a:ahLst/>
              <a:cxnLst/>
              <a:rect l="l" t="t" r="r" b="b"/>
              <a:pathLst>
                <a:path w="241073" h="21324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CD8E8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52400" y="-27412"/>
            <a:ext cx="7891955" cy="3194645"/>
            <a:chOff x="0" y="-495679"/>
            <a:chExt cx="2078540" cy="841389"/>
          </a:xfrm>
        </p:grpSpPr>
        <p:sp>
          <p:nvSpPr>
            <p:cNvPr id="6" name="Freeform 6"/>
            <p:cNvSpPr/>
            <p:nvPr/>
          </p:nvSpPr>
          <p:spPr>
            <a:xfrm>
              <a:off x="40138" y="-495679"/>
              <a:ext cx="2038402" cy="345710"/>
            </a:xfrm>
            <a:custGeom>
              <a:avLst/>
              <a:gdLst/>
              <a:ahLst/>
              <a:cxnLst/>
              <a:rect l="l" t="t" r="r" b="b"/>
              <a:pathLst>
                <a:path w="2038402" h="345710">
                  <a:moveTo>
                    <a:pt x="0" y="0"/>
                  </a:moveTo>
                  <a:lnTo>
                    <a:pt x="2038402" y="0"/>
                  </a:lnTo>
                  <a:lnTo>
                    <a:pt x="2038402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038402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267263" y="9756873"/>
            <a:ext cx="4710263" cy="27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57"/>
              </a:lnSpc>
            </a:pPr>
            <a:r>
              <a:rPr lang="en-US" sz="1309" b="1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8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19200" y="1903298"/>
            <a:ext cx="652490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11178" y="1881539"/>
            <a:ext cx="6611314" cy="684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5220"/>
              </a:lnSpc>
            </a:pPr>
            <a:r>
              <a:rPr lang="fr-FR" sz="4800" b="1" dirty="0"/>
              <a:t>Support &amp; maintenance</a:t>
            </a:r>
            <a:endParaRPr lang="en-US" sz="4423" b="1" spc="-88" dirty="0">
              <a:solidFill>
                <a:srgbClr val="00225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AD8967E8-3623-FDD1-2795-441CE0ACF8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5941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94150B83-4207-B1B5-3B32-26FF4D575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4304791"/>
            <a:ext cx="2743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20" name="Google Shape;56;p13">
            <a:extLst>
              <a:ext uri="{FF2B5EF4-FFF2-40B4-BE49-F238E27FC236}">
                <a16:creationId xmlns:a16="http://schemas.microsoft.com/office/drawing/2014/main" id="{5E697800-D186-EDA2-DF66-EE0A06DCE9A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154201" y="19550"/>
            <a:ext cx="3242553" cy="130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Image 20" descr="Une image contenant logo, Police, symbole, Graphique&#10;&#10;Le contenu généré par l’IA peut être incorrect.">
            <a:extLst>
              <a:ext uri="{FF2B5EF4-FFF2-40B4-BE49-F238E27FC236}">
                <a16:creationId xmlns:a16="http://schemas.microsoft.com/office/drawing/2014/main" id="{DD159150-EBA2-34EE-6054-9CD762F2A7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0097" y="117151"/>
            <a:ext cx="3966498" cy="1358950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2277FDDE-2F68-D5C9-F5E3-4330FD417E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6056" y="10516"/>
            <a:ext cx="3352800" cy="1302100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712B2E7F-6653-61DC-3773-0541AED51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757585"/>
            <a:ext cx="679224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structuré en N1 / N2 / N3 avec procédures claires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Monitoring actif du pipeline (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Airflow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alerting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Plan de maintenance continue : corrective, préventive, évolutive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Système de rotation pour assurer la disponibilité de l’équipe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71690" y="2708069"/>
            <a:ext cx="915323" cy="80965"/>
            <a:chOff x="0" y="0"/>
            <a:chExt cx="241073" cy="213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1073" cy="21324"/>
            </a:xfrm>
            <a:custGeom>
              <a:avLst/>
              <a:gdLst/>
              <a:ahLst/>
              <a:cxnLst/>
              <a:rect l="l" t="t" r="r" b="b"/>
              <a:pathLst>
                <a:path w="241073" h="21324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CD8E8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926632" y="4599269"/>
            <a:ext cx="4050894" cy="3152332"/>
          </a:xfrm>
          <a:custGeom>
            <a:avLst/>
            <a:gdLst/>
            <a:ahLst/>
            <a:cxnLst/>
            <a:rect l="l" t="t" r="r" b="b"/>
            <a:pathLst>
              <a:path w="4050894" h="3152332">
                <a:moveTo>
                  <a:pt x="0" y="0"/>
                </a:moveTo>
                <a:lnTo>
                  <a:pt x="4050894" y="0"/>
                </a:lnTo>
                <a:lnTo>
                  <a:pt x="4050894" y="3152332"/>
                </a:lnTo>
                <a:lnTo>
                  <a:pt x="0" y="31523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7" name="Group 7"/>
          <p:cNvGrpSpPr/>
          <p:nvPr/>
        </p:nvGrpSpPr>
        <p:grpSpPr>
          <a:xfrm>
            <a:off x="0" y="0"/>
            <a:ext cx="6768300" cy="1312616"/>
            <a:chOff x="0" y="0"/>
            <a:chExt cx="1782597" cy="34571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82597" cy="345710"/>
            </a:xfrm>
            <a:custGeom>
              <a:avLst/>
              <a:gdLst/>
              <a:ahLst/>
              <a:cxnLst/>
              <a:rect l="l" t="t" r="r" b="b"/>
              <a:pathLst>
                <a:path w="1782597" h="345710">
                  <a:moveTo>
                    <a:pt x="0" y="0"/>
                  </a:moveTo>
                  <a:lnTo>
                    <a:pt x="1782597" y="0"/>
                  </a:lnTo>
                  <a:lnTo>
                    <a:pt x="1782597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782597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267263" y="9756873"/>
            <a:ext cx="4710263" cy="27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57"/>
              </a:lnSpc>
            </a:pPr>
            <a:r>
              <a:rPr lang="en-US" sz="1309" b="1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9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19200" y="1903298"/>
            <a:ext cx="652490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71690" y="1903298"/>
            <a:ext cx="7232822" cy="59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4601"/>
              </a:lnSpc>
            </a:pPr>
            <a:r>
              <a:rPr lang="fr-FR" sz="4000" b="1" dirty="0"/>
              <a:t>Accessibilité &amp; RGPD</a:t>
            </a:r>
            <a:endParaRPr lang="en-US" sz="3899" b="1" spc="-77" dirty="0">
              <a:solidFill>
                <a:srgbClr val="00225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7" name="Google Shape;56;p13">
            <a:extLst>
              <a:ext uri="{FF2B5EF4-FFF2-40B4-BE49-F238E27FC236}">
                <a16:creationId xmlns:a16="http://schemas.microsoft.com/office/drawing/2014/main" id="{4C111CF3-57D4-D1D1-042F-FF88FA3D3FE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54201" y="19550"/>
            <a:ext cx="3242553" cy="130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Image 17" descr="Une image contenant logo, Police, symbole, Graphique&#10;&#10;Le contenu généré par l’IA peut être incorrect.">
            <a:extLst>
              <a:ext uri="{FF2B5EF4-FFF2-40B4-BE49-F238E27FC236}">
                <a16:creationId xmlns:a16="http://schemas.microsoft.com/office/drawing/2014/main" id="{F6280F41-D0D7-AF16-62B0-2DF56E4493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300" y="-6068"/>
            <a:ext cx="3966498" cy="1358950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077FF2FD-CD8D-4315-0A18-63CC52830C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6056" y="10516"/>
            <a:ext cx="3352800" cy="1302100"/>
          </a:xfrm>
          <a:prstGeom prst="rect">
            <a:avLst/>
          </a:prstGeom>
        </p:spPr>
      </p:pic>
      <p:sp>
        <p:nvSpPr>
          <p:cNvPr id="21" name="Rectangle 1">
            <a:extLst>
              <a:ext uri="{FF2B5EF4-FFF2-40B4-BE49-F238E27FC236}">
                <a16:creationId xmlns:a16="http://schemas.microsoft.com/office/drawing/2014/main" id="{5E17EADC-07A6-73BD-DD24-41C69E0AC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772399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CB18190F-5182-419C-0424-1863F4B7E748}"/>
              </a:ext>
            </a:extLst>
          </p:cNvPr>
          <p:cNvSpPr txBox="1"/>
          <p:nvPr/>
        </p:nvSpPr>
        <p:spPr>
          <a:xfrm>
            <a:off x="1219200" y="4330292"/>
            <a:ext cx="124968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tx2"/>
                </a:solidFill>
              </a:rPr>
              <a:t>Traitement RGPD intégré dès la conception : anonymisation par hash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tx2"/>
                </a:solidFill>
              </a:rPr>
              <a:t>Respect des droits d’accès : gestion RBAC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tx2"/>
                </a:solidFill>
              </a:rPr>
              <a:t>Conservation limitée des logs : suppression automatique sous 30 jours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tx2"/>
                </a:solidFill>
              </a:rPr>
              <a:t>Droit à l’oubli implémenté via tâche </a:t>
            </a:r>
            <a:r>
              <a:rPr lang="fr-FR" sz="2800" dirty="0" err="1">
                <a:solidFill>
                  <a:schemeClr val="tx2"/>
                </a:solidFill>
              </a:rPr>
              <a:t>Airflow</a:t>
            </a:r>
            <a:r>
              <a:rPr lang="fr-FR" sz="2800" dirty="0">
                <a:solidFill>
                  <a:schemeClr val="tx2"/>
                </a:solidFill>
              </a:rPr>
              <a:t> spécifique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71690" y="2708069"/>
            <a:ext cx="915323" cy="80965"/>
            <a:chOff x="0" y="0"/>
            <a:chExt cx="241073" cy="213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1073" cy="21324"/>
            </a:xfrm>
            <a:custGeom>
              <a:avLst/>
              <a:gdLst/>
              <a:ahLst/>
              <a:cxnLst/>
              <a:rect l="l" t="t" r="r" b="b"/>
              <a:pathLst>
                <a:path w="241073" h="21324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CD8E8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768300" cy="1312616"/>
            <a:chOff x="0" y="0"/>
            <a:chExt cx="1782597" cy="34571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82597" cy="345710"/>
            </a:xfrm>
            <a:custGeom>
              <a:avLst/>
              <a:gdLst/>
              <a:ahLst/>
              <a:cxnLst/>
              <a:rect l="l" t="t" r="r" b="b"/>
              <a:pathLst>
                <a:path w="1782597" h="345710">
                  <a:moveTo>
                    <a:pt x="0" y="0"/>
                  </a:moveTo>
                  <a:lnTo>
                    <a:pt x="1782597" y="0"/>
                  </a:lnTo>
                  <a:lnTo>
                    <a:pt x="1782597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782597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267263" y="9756873"/>
            <a:ext cx="4710263" cy="27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57"/>
              </a:lnSpc>
            </a:pPr>
            <a:r>
              <a:rPr lang="en-US" sz="1309" b="1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9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19200" y="1903298"/>
            <a:ext cx="652490" cy="592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899" spc="-77" dirty="0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71690" y="1903298"/>
            <a:ext cx="7232822" cy="59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4601"/>
              </a:lnSpc>
            </a:pPr>
            <a:r>
              <a:rPr lang="fr-FR" sz="4000" b="1" dirty="0"/>
              <a:t>KPI &amp; résultats obtenus</a:t>
            </a:r>
            <a:endParaRPr lang="en-US" sz="3899" b="1" spc="-77" dirty="0">
              <a:solidFill>
                <a:srgbClr val="00225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6" name="Google Shape;56;p13">
            <a:extLst>
              <a:ext uri="{FF2B5EF4-FFF2-40B4-BE49-F238E27FC236}">
                <a16:creationId xmlns:a16="http://schemas.microsoft.com/office/drawing/2014/main" id="{670A7B8C-A690-3E71-1FE8-3581BC99C94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154201" y="19550"/>
            <a:ext cx="3242553" cy="130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Image 16" descr="Une image contenant logo, Police, symbole, Graphique&#10;&#10;Le contenu généré par l’IA peut être incorrect.">
            <a:extLst>
              <a:ext uri="{FF2B5EF4-FFF2-40B4-BE49-F238E27FC236}">
                <a16:creationId xmlns:a16="http://schemas.microsoft.com/office/drawing/2014/main" id="{5FEC591B-26A3-E753-63E4-D752DBFE23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8401" y="14292"/>
            <a:ext cx="3966498" cy="1358950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1D2D09F2-5F22-D898-52AC-B37D94D943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6056" y="10516"/>
            <a:ext cx="3352800" cy="1302100"/>
          </a:xfrm>
          <a:prstGeom prst="rect">
            <a:avLst/>
          </a:prstGeom>
        </p:spPr>
      </p:pic>
      <p:pic>
        <p:nvPicPr>
          <p:cNvPr id="19" name="Google Shape;56;p13">
            <a:extLst>
              <a:ext uri="{FF2B5EF4-FFF2-40B4-BE49-F238E27FC236}">
                <a16:creationId xmlns:a16="http://schemas.microsoft.com/office/drawing/2014/main" id="{4B6931D7-3B2F-10EC-0071-F0804FEF98C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125200" y="23394"/>
            <a:ext cx="3242553" cy="130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Image 19" descr="Une image contenant logo, Police, symbole, Graphique&#10;&#10;Le contenu généré par l’IA peut être incorrect.">
            <a:extLst>
              <a:ext uri="{FF2B5EF4-FFF2-40B4-BE49-F238E27FC236}">
                <a16:creationId xmlns:a16="http://schemas.microsoft.com/office/drawing/2014/main" id="{5C8133FD-E186-D6AB-16D6-CD0A60FF7D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18136"/>
            <a:ext cx="3966498" cy="1358950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AC9F102F-0F19-AECC-DF05-B620BDB3D5F6}"/>
              </a:ext>
            </a:extLst>
          </p:cNvPr>
          <p:cNvSpPr txBox="1"/>
          <p:nvPr/>
        </p:nvSpPr>
        <p:spPr>
          <a:xfrm>
            <a:off x="1447800" y="4229100"/>
            <a:ext cx="15697200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Exécution pipeline : &lt; 1 minute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Précision des catégories NLP : &gt; 90%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Couverture de 100% des flux fonctionnels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Plateforme prête à être déployée en environnement de production</a:t>
            </a:r>
          </a:p>
          <a:p>
            <a:pPr algn="ctr">
              <a:buNone/>
            </a:pPr>
            <a:endParaRPr lang="fr-FR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71690" y="2708069"/>
            <a:ext cx="915323" cy="80965"/>
            <a:chOff x="0" y="0"/>
            <a:chExt cx="241073" cy="213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1073" cy="21324"/>
            </a:xfrm>
            <a:custGeom>
              <a:avLst/>
              <a:gdLst/>
              <a:ahLst/>
              <a:cxnLst/>
              <a:rect l="l" t="t" r="r" b="b"/>
              <a:pathLst>
                <a:path w="241073" h="21324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CD8E8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768300" cy="1312616"/>
            <a:chOff x="0" y="0"/>
            <a:chExt cx="1782597" cy="34571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82597" cy="345710"/>
            </a:xfrm>
            <a:custGeom>
              <a:avLst/>
              <a:gdLst/>
              <a:ahLst/>
              <a:cxnLst/>
              <a:rect l="l" t="t" r="r" b="b"/>
              <a:pathLst>
                <a:path w="1782597" h="345710">
                  <a:moveTo>
                    <a:pt x="0" y="0"/>
                  </a:moveTo>
                  <a:lnTo>
                    <a:pt x="1782597" y="0"/>
                  </a:lnTo>
                  <a:lnTo>
                    <a:pt x="1782597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782597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267263" y="9756873"/>
            <a:ext cx="4710263" cy="27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57"/>
              </a:lnSpc>
            </a:pPr>
            <a:r>
              <a:rPr lang="en-US" sz="1309" b="1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9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71690" y="1903298"/>
            <a:ext cx="7232822" cy="59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4601"/>
              </a:lnSpc>
            </a:pPr>
            <a:r>
              <a:rPr lang="fr-FR" sz="4000" b="1" dirty="0"/>
              <a:t>Risques &amp; limites</a:t>
            </a:r>
            <a:endParaRPr lang="en-US" sz="3899" b="1" spc="-77" dirty="0">
              <a:solidFill>
                <a:srgbClr val="00225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701A1EC9-67DA-2F80-CA16-301D5A37EA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6056" y="10516"/>
            <a:ext cx="3352800" cy="1302100"/>
          </a:xfrm>
          <a:prstGeom prst="rect">
            <a:avLst/>
          </a:prstGeom>
        </p:spPr>
      </p:pic>
      <p:pic>
        <p:nvPicPr>
          <p:cNvPr id="18" name="Google Shape;56;p13">
            <a:extLst>
              <a:ext uri="{FF2B5EF4-FFF2-40B4-BE49-F238E27FC236}">
                <a16:creationId xmlns:a16="http://schemas.microsoft.com/office/drawing/2014/main" id="{32FDB877-71AD-44BB-EC92-345731E83AE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04318" y="-8577"/>
            <a:ext cx="3242553" cy="130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Image 18" descr="Une image contenant logo, Police, symbole, Graphique&#10;&#10;Le contenu généré par l’IA peut être incorrect.">
            <a:extLst>
              <a:ext uri="{FF2B5EF4-FFF2-40B4-BE49-F238E27FC236}">
                <a16:creationId xmlns:a16="http://schemas.microsoft.com/office/drawing/2014/main" id="{446945A4-6CE7-8A32-A7EC-5D014AA3BC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7820" y="33537"/>
            <a:ext cx="3966498" cy="1358950"/>
          </a:xfrm>
          <a:prstGeom prst="rect">
            <a:avLst/>
          </a:prstGeom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ACCC6922-739C-87B1-AB4E-055300687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3619500"/>
            <a:ext cx="944252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Sensibilité au changement de schéma en base source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dépendante de la volumétrie S3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Résilience du DAG liée aux dépendances extérieures (réseaux, services cloud)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Solutions proposées : validation de schémas, systèmes de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retry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documentation renforcée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6B08E99-ADDA-D367-1ED0-D8FDBDE9AEA2}"/>
              </a:ext>
            </a:extLst>
          </p:cNvPr>
          <p:cNvGrpSpPr/>
          <p:nvPr/>
        </p:nvGrpSpPr>
        <p:grpSpPr>
          <a:xfrm>
            <a:off x="1871690" y="2708069"/>
            <a:ext cx="915323" cy="80965"/>
            <a:chOff x="0" y="0"/>
            <a:chExt cx="241073" cy="2132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810F4A5-2C23-2D5B-3D7A-131CC48EF0D1}"/>
                </a:ext>
              </a:extLst>
            </p:cNvPr>
            <p:cNvSpPr/>
            <p:nvPr/>
          </p:nvSpPr>
          <p:spPr>
            <a:xfrm>
              <a:off x="0" y="0"/>
              <a:ext cx="241073" cy="21324"/>
            </a:xfrm>
            <a:custGeom>
              <a:avLst/>
              <a:gdLst/>
              <a:ahLst/>
              <a:cxnLst/>
              <a:rect l="l" t="t" r="r" b="b"/>
              <a:pathLst>
                <a:path w="241073" h="21324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CD8E8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5A2D20C-42FD-1B0B-85FA-6B0FF1A3701D}"/>
                </a:ext>
              </a:extLst>
            </p:cNvPr>
            <p:cNvSpPr txBox="1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6">
            <a:extLst>
              <a:ext uri="{FF2B5EF4-FFF2-40B4-BE49-F238E27FC236}">
                <a16:creationId xmlns:a16="http://schemas.microsoft.com/office/drawing/2014/main" id="{809878D5-0A2A-9FEC-BCB1-9AB62880031A}"/>
              </a:ext>
            </a:extLst>
          </p:cNvPr>
          <p:cNvGrpSpPr/>
          <p:nvPr/>
        </p:nvGrpSpPr>
        <p:grpSpPr>
          <a:xfrm>
            <a:off x="0" y="0"/>
            <a:ext cx="6768300" cy="1312616"/>
            <a:chOff x="0" y="0"/>
            <a:chExt cx="1782597" cy="345710"/>
          </a:xfrm>
        </p:grpSpPr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85E53D64-72FF-20D8-DD3B-6528B067F29D}"/>
                </a:ext>
              </a:extLst>
            </p:cNvPr>
            <p:cNvSpPr/>
            <p:nvPr/>
          </p:nvSpPr>
          <p:spPr>
            <a:xfrm>
              <a:off x="0" y="0"/>
              <a:ext cx="1782597" cy="345710"/>
            </a:xfrm>
            <a:custGeom>
              <a:avLst/>
              <a:gdLst/>
              <a:ahLst/>
              <a:cxnLst/>
              <a:rect l="l" t="t" r="r" b="b"/>
              <a:pathLst>
                <a:path w="1782597" h="345710">
                  <a:moveTo>
                    <a:pt x="0" y="0"/>
                  </a:moveTo>
                  <a:lnTo>
                    <a:pt x="1782597" y="0"/>
                  </a:lnTo>
                  <a:lnTo>
                    <a:pt x="1782597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8">
              <a:extLst>
                <a:ext uri="{FF2B5EF4-FFF2-40B4-BE49-F238E27FC236}">
                  <a16:creationId xmlns:a16="http://schemas.microsoft.com/office/drawing/2014/main" id="{1B5B1340-353B-0C08-1F91-24B71EA19BCB}"/>
                </a:ext>
              </a:extLst>
            </p:cNvPr>
            <p:cNvSpPr txBox="1"/>
            <p:nvPr/>
          </p:nvSpPr>
          <p:spPr>
            <a:xfrm>
              <a:off x="0" y="-38100"/>
              <a:ext cx="1782597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11">
            <a:extLst>
              <a:ext uri="{FF2B5EF4-FFF2-40B4-BE49-F238E27FC236}">
                <a16:creationId xmlns:a16="http://schemas.microsoft.com/office/drawing/2014/main" id="{7E901569-79F8-26A1-9B7E-C7554F977E72}"/>
              </a:ext>
            </a:extLst>
          </p:cNvPr>
          <p:cNvSpPr txBox="1"/>
          <p:nvPr/>
        </p:nvSpPr>
        <p:spPr>
          <a:xfrm>
            <a:off x="13267263" y="9756873"/>
            <a:ext cx="4710263" cy="27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57"/>
              </a:lnSpc>
            </a:pPr>
            <a:r>
              <a:rPr lang="en-US" sz="1309" b="1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9</a:t>
            </a:r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E9467173-F6AD-F809-0DB0-D6B4A353CF8B}"/>
              </a:ext>
            </a:extLst>
          </p:cNvPr>
          <p:cNvSpPr txBox="1"/>
          <p:nvPr/>
        </p:nvSpPr>
        <p:spPr>
          <a:xfrm>
            <a:off x="1871690" y="1903298"/>
            <a:ext cx="7232822" cy="592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899" b="1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Perspectives &amp; évolutions</a:t>
            </a:r>
            <a:endParaRPr lang="en-US" sz="3899" b="1" spc="-77" dirty="0">
              <a:solidFill>
                <a:srgbClr val="00225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0" name="Image 9" descr="Une image contenant logo, Police, Graphique, conception&#10;&#10;Le contenu généré par l’IA peut être incorrect.">
            <a:extLst>
              <a:ext uri="{FF2B5EF4-FFF2-40B4-BE49-F238E27FC236}">
                <a16:creationId xmlns:a16="http://schemas.microsoft.com/office/drawing/2014/main" id="{CF3663E7-5F17-E198-B39F-DA9C2C4AAE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6056" y="10516"/>
            <a:ext cx="3352800" cy="1302100"/>
          </a:xfrm>
          <a:prstGeom prst="rect">
            <a:avLst/>
          </a:prstGeom>
        </p:spPr>
      </p:pic>
      <p:pic>
        <p:nvPicPr>
          <p:cNvPr id="11" name="Google Shape;56;p13" descr="Une image contenant cercle, symbole, Graphique, logo&#10;&#10;Le contenu généré par l’IA peut être incorrect.">
            <a:extLst>
              <a:ext uri="{FF2B5EF4-FFF2-40B4-BE49-F238E27FC236}">
                <a16:creationId xmlns:a16="http://schemas.microsoft.com/office/drawing/2014/main" id="{22377B84-A5C8-B1C2-18D2-5BD5086E679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04318" y="-8577"/>
            <a:ext cx="3242553" cy="130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Image 11" descr="Une image contenant logo, Police, symbole, Graphique&#10;&#10;Le contenu généré par l’IA peut être incorrect.">
            <a:extLst>
              <a:ext uri="{FF2B5EF4-FFF2-40B4-BE49-F238E27FC236}">
                <a16:creationId xmlns:a16="http://schemas.microsoft.com/office/drawing/2014/main" id="{2FADA7C1-C4B0-0335-25BF-4A87ADDA27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7820" y="33537"/>
            <a:ext cx="3966498" cy="1358950"/>
          </a:xfrm>
          <a:prstGeom prst="rect">
            <a:avLst/>
          </a:prstGeom>
        </p:spPr>
      </p:pic>
      <p:sp>
        <p:nvSpPr>
          <p:cNvPr id="20" name="Rectangle 1">
            <a:extLst>
              <a:ext uri="{FF2B5EF4-FFF2-40B4-BE49-F238E27FC236}">
                <a16:creationId xmlns:a16="http://schemas.microsoft.com/office/drawing/2014/main" id="{6404A12E-DE6D-4C2B-CFDC-822B392961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0318" y="4661238"/>
            <a:ext cx="711284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Ajout d’un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scoring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automatique des avis (positif/neutre/négatif)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métier en temps réel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 d’accès aux avis enrichis pour équipes marketing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Extension du système à d’autres marketplaces (Fnac, Cdiscount...)</a:t>
            </a:r>
          </a:p>
        </p:txBody>
      </p:sp>
    </p:spTree>
    <p:extLst>
      <p:ext uri="{BB962C8B-B14F-4D97-AF65-F5344CB8AC3E}">
        <p14:creationId xmlns:p14="http://schemas.microsoft.com/office/powerpoint/2010/main" val="3454916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3305512-25EA-DC6C-86CA-5641BF2177E4}"/>
              </a:ext>
            </a:extLst>
          </p:cNvPr>
          <p:cNvGrpSpPr/>
          <p:nvPr/>
        </p:nvGrpSpPr>
        <p:grpSpPr>
          <a:xfrm>
            <a:off x="1871690" y="2708069"/>
            <a:ext cx="915323" cy="80965"/>
            <a:chOff x="0" y="0"/>
            <a:chExt cx="241073" cy="2132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0D4B385-3E63-A551-9DF4-55D5E4BD95AA}"/>
                </a:ext>
              </a:extLst>
            </p:cNvPr>
            <p:cNvSpPr/>
            <p:nvPr/>
          </p:nvSpPr>
          <p:spPr>
            <a:xfrm>
              <a:off x="0" y="0"/>
              <a:ext cx="241073" cy="21324"/>
            </a:xfrm>
            <a:custGeom>
              <a:avLst/>
              <a:gdLst/>
              <a:ahLst/>
              <a:cxnLst/>
              <a:rect l="l" t="t" r="r" b="b"/>
              <a:pathLst>
                <a:path w="241073" h="21324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CD8E8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EAFB32F-36E7-5CA9-E67C-53F5E32B8D36}"/>
                </a:ext>
              </a:extLst>
            </p:cNvPr>
            <p:cNvSpPr txBox="1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6">
            <a:extLst>
              <a:ext uri="{FF2B5EF4-FFF2-40B4-BE49-F238E27FC236}">
                <a16:creationId xmlns:a16="http://schemas.microsoft.com/office/drawing/2014/main" id="{B5F50B9C-EEA8-76B3-195C-9BDE9217D02F}"/>
              </a:ext>
            </a:extLst>
          </p:cNvPr>
          <p:cNvGrpSpPr/>
          <p:nvPr/>
        </p:nvGrpSpPr>
        <p:grpSpPr>
          <a:xfrm>
            <a:off x="0" y="0"/>
            <a:ext cx="6768300" cy="1312616"/>
            <a:chOff x="0" y="0"/>
            <a:chExt cx="1782597" cy="345710"/>
          </a:xfrm>
        </p:grpSpPr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E89D6790-EF57-1B50-EF38-6984D9EA9949}"/>
                </a:ext>
              </a:extLst>
            </p:cNvPr>
            <p:cNvSpPr/>
            <p:nvPr/>
          </p:nvSpPr>
          <p:spPr>
            <a:xfrm>
              <a:off x="0" y="0"/>
              <a:ext cx="1782597" cy="345710"/>
            </a:xfrm>
            <a:custGeom>
              <a:avLst/>
              <a:gdLst/>
              <a:ahLst/>
              <a:cxnLst/>
              <a:rect l="l" t="t" r="r" b="b"/>
              <a:pathLst>
                <a:path w="1782597" h="345710">
                  <a:moveTo>
                    <a:pt x="0" y="0"/>
                  </a:moveTo>
                  <a:lnTo>
                    <a:pt x="1782597" y="0"/>
                  </a:lnTo>
                  <a:lnTo>
                    <a:pt x="1782597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8">
              <a:extLst>
                <a:ext uri="{FF2B5EF4-FFF2-40B4-BE49-F238E27FC236}">
                  <a16:creationId xmlns:a16="http://schemas.microsoft.com/office/drawing/2014/main" id="{DDBCB134-6139-D5A2-6BE4-F5297F36851E}"/>
                </a:ext>
              </a:extLst>
            </p:cNvPr>
            <p:cNvSpPr txBox="1"/>
            <p:nvPr/>
          </p:nvSpPr>
          <p:spPr>
            <a:xfrm>
              <a:off x="0" y="-38100"/>
              <a:ext cx="1782597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11">
            <a:extLst>
              <a:ext uri="{FF2B5EF4-FFF2-40B4-BE49-F238E27FC236}">
                <a16:creationId xmlns:a16="http://schemas.microsoft.com/office/drawing/2014/main" id="{4D1F2A19-B083-68E9-AD79-61A3FAE36758}"/>
              </a:ext>
            </a:extLst>
          </p:cNvPr>
          <p:cNvSpPr txBox="1"/>
          <p:nvPr/>
        </p:nvSpPr>
        <p:spPr>
          <a:xfrm>
            <a:off x="13267263" y="9756873"/>
            <a:ext cx="4710263" cy="27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57"/>
              </a:lnSpc>
            </a:pPr>
            <a:r>
              <a:rPr lang="en-US" sz="1309" b="1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9</a:t>
            </a:r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530426D4-5DC1-4FDE-2C84-11655397008E}"/>
              </a:ext>
            </a:extLst>
          </p:cNvPr>
          <p:cNvSpPr txBox="1"/>
          <p:nvPr/>
        </p:nvSpPr>
        <p:spPr>
          <a:xfrm>
            <a:off x="1871690" y="1903298"/>
            <a:ext cx="7232822" cy="592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899" b="1" spc="-77" dirty="0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</a:t>
            </a:r>
          </a:p>
        </p:txBody>
      </p:sp>
      <p:pic>
        <p:nvPicPr>
          <p:cNvPr id="10" name="Image 9" descr="Une image contenant logo, Police, Graphique, conception&#10;&#10;Le contenu généré par l’IA peut être incorrect.">
            <a:extLst>
              <a:ext uri="{FF2B5EF4-FFF2-40B4-BE49-F238E27FC236}">
                <a16:creationId xmlns:a16="http://schemas.microsoft.com/office/drawing/2014/main" id="{507F49E4-B224-9CDC-17D8-0A8D6824EA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6056" y="10516"/>
            <a:ext cx="3352800" cy="1302100"/>
          </a:xfrm>
          <a:prstGeom prst="rect">
            <a:avLst/>
          </a:prstGeom>
        </p:spPr>
      </p:pic>
      <p:pic>
        <p:nvPicPr>
          <p:cNvPr id="11" name="Google Shape;56;p13" descr="Une image contenant cercle, symbole, Graphique, logo&#10;&#10;Le contenu généré par l’IA peut être incorrect.">
            <a:extLst>
              <a:ext uri="{FF2B5EF4-FFF2-40B4-BE49-F238E27FC236}">
                <a16:creationId xmlns:a16="http://schemas.microsoft.com/office/drawing/2014/main" id="{B3A8B65C-84B7-DA99-5554-9E4C699F624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04318" y="-8577"/>
            <a:ext cx="3242553" cy="130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Image 11" descr="Une image contenant logo, Police, symbole, Graphique&#10;&#10;Le contenu généré par l’IA peut être incorrect.">
            <a:extLst>
              <a:ext uri="{FF2B5EF4-FFF2-40B4-BE49-F238E27FC236}">
                <a16:creationId xmlns:a16="http://schemas.microsoft.com/office/drawing/2014/main" id="{94F22A96-11AE-7E30-9B29-19141C5279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7820" y="33537"/>
            <a:ext cx="3966498" cy="1358950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2FF8640C-2783-36D4-8FC2-15E77B19CB93}"/>
              </a:ext>
            </a:extLst>
          </p:cNvPr>
          <p:cNvSpPr txBox="1"/>
          <p:nvPr/>
        </p:nvSpPr>
        <p:spPr>
          <a:xfrm>
            <a:off x="1143000" y="4191793"/>
            <a:ext cx="15240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fr-FR" sz="3600" dirty="0">
              <a:solidFill>
                <a:schemeClr val="tx2"/>
              </a:solidFill>
            </a:endParaRPr>
          </a:p>
          <a:p>
            <a:r>
              <a:rPr lang="fr-FR" sz="2800" dirty="0"/>
              <a:t>Ce projet m’a permis de mettre en œuvre une vision globale d’un système data : du pipeline technique à la gouvernance, en passant par la gestion d’équipe, le budget, le support et le RGPD.</a:t>
            </a:r>
            <a:br>
              <a:rPr lang="fr-FR" sz="2800" dirty="0"/>
            </a:br>
            <a:r>
              <a:rPr lang="fr-FR" sz="2800" dirty="0"/>
              <a:t>La plateforme est </a:t>
            </a:r>
            <a:r>
              <a:rPr lang="fr-FR" sz="2800" b="1" dirty="0"/>
              <a:t>modulaire, sécurisée, maintenable et conforme</a:t>
            </a:r>
            <a:r>
              <a:rPr lang="fr-FR" sz="2800" dirty="0"/>
              <a:t>, prête pour des cas d’usage concrets.</a:t>
            </a:r>
          </a:p>
        </p:txBody>
      </p:sp>
    </p:spTree>
    <p:extLst>
      <p:ext uri="{BB962C8B-B14F-4D97-AF65-F5344CB8AC3E}">
        <p14:creationId xmlns:p14="http://schemas.microsoft.com/office/powerpoint/2010/main" val="300376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508</TotalTime>
  <Words>554</Words>
  <Application>Microsoft Office PowerPoint</Application>
  <PresentationFormat>Personnalisé</PresentationFormat>
  <Paragraphs>110</Paragraphs>
  <Slides>13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21" baseType="lpstr">
      <vt:lpstr>Inter SemiBold</vt:lpstr>
      <vt:lpstr>Arial</vt:lpstr>
      <vt:lpstr>Gotham</vt:lpstr>
      <vt:lpstr>Gotham Bold</vt:lpstr>
      <vt:lpstr>League Spartan</vt:lpstr>
      <vt:lpstr>Calibri</vt:lpstr>
      <vt:lpstr>Aptos</vt:lpstr>
      <vt:lpstr>Office Theme</vt:lpstr>
      <vt:lpstr>Amazon Reviews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Reviews : Détection et catégorisation intelligente des avis clients</dc:title>
  <dc:creator>ismael sylla</dc:creator>
  <cp:lastModifiedBy>ismael sylla</cp:lastModifiedBy>
  <cp:revision>4</cp:revision>
  <dcterms:created xsi:type="dcterms:W3CDTF">2006-08-16T00:00:00Z</dcterms:created>
  <dcterms:modified xsi:type="dcterms:W3CDTF">2025-12-08T14:40:40Z</dcterms:modified>
  <dc:identifier>DAG3cwB6bCo</dc:identifier>
</cp:coreProperties>
</file>